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fe99424a649ec" /><Relationship Type="http://schemas.openxmlformats.org/officeDocument/2006/relationships/extended-properties" Target="/docProps/app.xml" Id="R99d0e76848f747f2" /><Relationship Type="http://schemas.openxmlformats.org/officeDocument/2006/relationships/officeDocument" Target="/ppt/presentation.xml" Id="R68af7931797c49b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742ee7802ca4ec4"/>
  </p:sldMasterIdLst>
  <p:notesMasterIdLst>
    <p:notesMasterId xmlns:r="http://schemas.openxmlformats.org/officeDocument/2006/relationships" r:id="R931602b174464910"/>
  </p:notesMasterIdLst>
  <p:sldIdLst>
    <p:sldId xmlns:r="http://schemas.openxmlformats.org/officeDocument/2006/relationships" id="256" r:id="Rdf734dbbc77c492c"/>
  </p:sldIdLst>
  <p:sldSz cx="15113000" cy="21374100"/>
  <p:notesSz cx="6858000" cy="9144000"/>
  <p:embeddedFontLst>
    <p:embeddedFont>
      <p:font typeface="字由点字典黑 1 Bold"/>
      <p:regular xmlns:r="http://schemas.openxmlformats.org/officeDocument/2006/relationships" r:id="R53247cbb292f494a"/>
    </p:embeddedFont>
    <p:embeddedFont>
      <p:font typeface="阿里巴巴普惠体 Medium"/>
      <p:regular xmlns:r="http://schemas.openxmlformats.org/officeDocument/2006/relationships" r:id="R38b348dddbf34217"/>
    </p:embeddedFont>
    <p:embeddedFont>
      <p:font typeface="字由点字典黑 2 Bold"/>
      <p:regular xmlns:r="http://schemas.openxmlformats.org/officeDocument/2006/relationships" r:id="Rd6e649a063774f88"/>
    </p:embeddedFont>
    <p:embeddedFont>
      <p:font typeface="字由点字典黑 2 Medium Italics"/>
      <p:regular xmlns:r="http://schemas.openxmlformats.org/officeDocument/2006/relationships" r:id="R59e3fb50948c4fa1"/>
    </p:embeddedFont>
    <p:embeddedFont>
      <p:font typeface="Calibri"/>
      <p:regular xmlns:r="http://schemas.openxmlformats.org/officeDocument/2006/relationships" r:id="Rb8ff0e6eeab74e7d"/>
      <p:bold xmlns:r="http://schemas.openxmlformats.org/officeDocument/2006/relationships" r:id="R23908b1a2f194b39"/>
      <p:italic xmlns:r="http://schemas.openxmlformats.org/officeDocument/2006/relationships" r:id="R0f6f2cc257914359"/>
      <p:boldItalic xmlns:r="http://schemas.openxmlformats.org/officeDocument/2006/relationships" r:id="Ra433ea7209cc4f3d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60566899e94633" /><Relationship Type="http://schemas.openxmlformats.org/officeDocument/2006/relationships/slideMaster" Target="/ppt/slideMasters/slideMaster1.xml" Id="R9742ee7802ca4ec4" /><Relationship Type="http://schemas.openxmlformats.org/officeDocument/2006/relationships/notesMaster" Target="/ppt/notesMasters/notesMaster1.xml" Id="R931602b174464910" /><Relationship Type="http://schemas.openxmlformats.org/officeDocument/2006/relationships/presProps" Target="/ppt/presProps.xml" Id="Rab98838c478048eb" /><Relationship Type="http://schemas.openxmlformats.org/officeDocument/2006/relationships/viewProps" Target="/ppt/viewProps.xml" Id="R45ca7b0ad6a540fa" /><Relationship Type="http://schemas.openxmlformats.org/officeDocument/2006/relationships/tableStyles" Target="/ppt/tableStyles.xml" Id="Rd49a87d02e364acd" /><Relationship Type="http://schemas.openxmlformats.org/officeDocument/2006/relationships/font" Target="/ppt/fonts/font.dat" Id="R53247cbb292f494a" /><Relationship Type="http://schemas.openxmlformats.org/officeDocument/2006/relationships/font" Target="/ppt/fonts/font2.dat" Id="R38b348dddbf34217" /><Relationship Type="http://schemas.openxmlformats.org/officeDocument/2006/relationships/font" Target="/ppt/fonts/font3.dat" Id="Rd6e649a063774f88" /><Relationship Type="http://schemas.openxmlformats.org/officeDocument/2006/relationships/font" Target="/ppt/fonts/font4.dat" Id="R59e3fb50948c4fa1" /><Relationship Type="http://schemas.openxmlformats.org/officeDocument/2006/relationships/font" Target="/ppt/fonts/font5.dat" Id="Rb8ff0e6eeab74e7d" /><Relationship Type="http://schemas.openxmlformats.org/officeDocument/2006/relationships/font" Target="/ppt/fonts/font6.dat" Id="R23908b1a2f194b39" /><Relationship Type="http://schemas.openxmlformats.org/officeDocument/2006/relationships/font" Target="/ppt/fonts/font7.dat" Id="R0f6f2cc257914359" /><Relationship Type="http://schemas.openxmlformats.org/officeDocument/2006/relationships/font" Target="/ppt/fonts/font8.dat" Id="Ra433ea7209cc4f3d" /><Relationship Type="http://schemas.openxmlformats.org/officeDocument/2006/relationships/slide" Target="/ppt/slides/slide1.xml" Id="Rdf734dbbc77c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f6a32d19846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a13f5b3a64ace" /><Relationship Type="http://schemas.openxmlformats.org/officeDocument/2006/relationships/notesMaster" Target="/ppt/notesMasters/notesMaster1.xml" Id="R9878bc401f43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f8c27d59041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7c008cbe745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8c7ffdbb948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0fccf78f34e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cfe32caaa48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3807d1f1a4b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5643e71f040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79d7f567e47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ef5eeef674b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879ac5f9e41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c85c26d7b4ce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D9C870-9956-4806-902C-9E177DC35F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AB5E9D-0218-4C7A-81B2-268887BB98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788798-7E3A-4E48-A6BE-678AA794BA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CEF838-FFEB-4344-A1FF-85633D47F0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83479A-C45A-4957-A194-B1F354E266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1E0D64-E4B7-4B62-B06D-D312840FB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BAE4A5-4E3D-4453-A886-AEEDA752AB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9ECC3D-FE31-4A36-8E7C-54A185178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C2C093-6616-472C-ABD1-761FEA93B6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C72363-E178-4BA2-8744-0079C355D8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90E1D4-9F00-4CB7-BF69-0CF871ADA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E1CD57-3576-43B4-83E7-F5BA5F36C3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2613FE-A318-4D0B-9D20-EF3283D9A5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5911F5-7586-401B-9623-54430E9C6E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6ABFD6-090D-4A78-AFD3-702E6C8A25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FF14E8-6B88-492F-A4E1-935A00C5A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D94303-F016-4FF7-9D01-6D9194803A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5FB5B0F-FDC2-4500-A31C-08FFDE431C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B9368C-C854-4E9F-974F-1155349287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3E4880F-D43C-40E4-91CD-A13052C75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BCA99-D1AE-42C2-B340-49879A2A3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B3F074-B606-4FE5-88DC-E51FD31E3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08C194-A763-4714-BD00-4DBF59C604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282877-9D72-436A-B4EE-9B9FCAA809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D4C30A2-3013-447A-A073-1C16F26EED4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E6F508A-0EDC-4B20-A6AC-4B4F4AC2D1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ADBFD3A-4E56-438C-BCD8-8EAB7EC0D7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02B3A2E-32BD-4B3D-8D96-2D6B2A2F6B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4D4508D-6E5B-4B58-BF5C-B0DEE2BFD7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1320F3-1E3C-48F9-9E05-C8E021506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7B5A113-7C00-4B9A-9922-984CA4705C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9234908-7C57-4F01-B044-21B939E2D6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81320DD-AE3B-45C1-A71E-9EDE89B701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E73117C-C13C-49F9-ACAB-4726F337F8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83EB38E-82DB-46FD-B02C-DE2523E53A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5066AB-97BC-4009-BBD2-F52BD2D33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1B8223-8DE3-4D49-82C9-B159642C5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887175-5CAA-4B12-B6AB-5F4DBAE08F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BD9BB6-E95A-4365-ADE4-3368A5E17D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5E261B-FC1D-4B2D-9F9A-B6786BA967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16DE99E-CF7E-4F5E-B872-A741B132CC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140B0-286F-4894-82F7-61F5BFE86B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21DC6-31EC-490D-BE49-C47B70AE8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259FB1-F8C6-442D-977B-66B78E9201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D6042A-F3C3-43D3-AC3C-EB6BC0BF25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741A0F2-6AAB-4474-BC8B-C2940D5E5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554BD2-64A5-41B9-B7E0-B5D4BCEBC0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5B6E2F5-5070-4AC8-9723-5EB2DF4AE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4C0178-F9A0-4865-81D3-9EAC04FB0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ABFFB8-056F-4A8E-9989-62E7D2F84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02FF33-5ED6-4F4C-B198-5F7807BF14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2A2C03-8341-47E4-A49A-BC949242D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B9BD2E-9726-49B2-848A-7529847D4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8DBD98-37F6-4417-B109-6C40CFA7F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B96CDB-AFF8-4310-86DC-74CA53AB8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D461C0-63A8-4003-9783-748D48C5C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645835-FFF6-47D6-83B9-43FDE230C6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31C458-53BD-4027-AAAA-59E0F52966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2a64f485a41c2" /><Relationship Type="http://schemas.openxmlformats.org/officeDocument/2006/relationships/slideLayout" Target="/ppt/slideLayouts/slideLayout1.xml" Id="R157f7268eb2b4850" /><Relationship Type="http://schemas.openxmlformats.org/officeDocument/2006/relationships/slideLayout" Target="/ppt/slideLayouts/slideLayout2.xml" Id="Rb0b3b55121ed45db" /><Relationship Type="http://schemas.openxmlformats.org/officeDocument/2006/relationships/slideLayout" Target="/ppt/slideLayouts/slideLayout3.xml" Id="R9b89b67298174c07" /><Relationship Type="http://schemas.openxmlformats.org/officeDocument/2006/relationships/slideLayout" Target="/ppt/slideLayouts/slideLayout4.xml" Id="R0d2d29c9d9d447e0" /><Relationship Type="http://schemas.openxmlformats.org/officeDocument/2006/relationships/slideLayout" Target="/ppt/slideLayouts/slideLayout5.xml" Id="R3e966f521db44cff" /><Relationship Type="http://schemas.openxmlformats.org/officeDocument/2006/relationships/slideLayout" Target="/ppt/slideLayouts/slideLayout6.xml" Id="Rf7cb97e0073f464a" /><Relationship Type="http://schemas.openxmlformats.org/officeDocument/2006/relationships/slideLayout" Target="/ppt/slideLayouts/slideLayout7.xml" Id="Rfec7a30e7f174943" /><Relationship Type="http://schemas.openxmlformats.org/officeDocument/2006/relationships/slideLayout" Target="/ppt/slideLayouts/slideLayout8.xml" Id="R7d2ec182c7b64a4d" /><Relationship Type="http://schemas.openxmlformats.org/officeDocument/2006/relationships/slideLayout" Target="/ppt/slideLayouts/slideLayout9.xml" Id="R650d679b79e14eb7" /><Relationship Type="http://schemas.openxmlformats.org/officeDocument/2006/relationships/slideLayout" Target="/ppt/slideLayouts/slideLayout10.xml" Id="R81cf2a70fff946c0" /><Relationship Type="http://schemas.openxmlformats.org/officeDocument/2006/relationships/slideLayout" Target="/ppt/slideLayouts/slideLayout11.xml" Id="Rbb2bf529cd3e496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0AFC073-BD1E-46AA-AB95-DAB76A852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C11B40-AB90-4EB8-87D1-35D7893300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896411-FEE0-423E-B965-73D4D6BBB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CE3C68-D7DF-40B4-8FA2-0331A556D0D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680C34-F40B-4D30-B9E4-96D6733B22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7f7268eb2b4850"/>
    <p:sldLayoutId xmlns:r="http://schemas.openxmlformats.org/officeDocument/2006/relationships" id="2147483650" r:id="Rb0b3b55121ed45db"/>
    <p:sldLayoutId xmlns:r="http://schemas.openxmlformats.org/officeDocument/2006/relationships" id="2147483651" r:id="R9b89b67298174c07"/>
    <p:sldLayoutId xmlns:r="http://schemas.openxmlformats.org/officeDocument/2006/relationships" id="2147483652" r:id="R0d2d29c9d9d447e0"/>
    <p:sldLayoutId xmlns:r="http://schemas.openxmlformats.org/officeDocument/2006/relationships" id="2147483653" r:id="R3e966f521db44cff"/>
    <p:sldLayoutId xmlns:r="http://schemas.openxmlformats.org/officeDocument/2006/relationships" id="2147483654" r:id="Rf7cb97e0073f464a"/>
    <p:sldLayoutId xmlns:r="http://schemas.openxmlformats.org/officeDocument/2006/relationships" id="2147483655" r:id="Rfec7a30e7f174943"/>
    <p:sldLayoutId xmlns:r="http://schemas.openxmlformats.org/officeDocument/2006/relationships" id="2147483656" r:id="R7d2ec182c7b64a4d"/>
    <p:sldLayoutId xmlns:r="http://schemas.openxmlformats.org/officeDocument/2006/relationships" id="2147483657" r:id="R650d679b79e14eb7"/>
    <p:sldLayoutId xmlns:r="http://schemas.openxmlformats.org/officeDocument/2006/relationships" id="2147483658" r:id="R81cf2a70fff946c0"/>
    <p:sldLayoutId xmlns:r="http://schemas.openxmlformats.org/officeDocument/2006/relationships" id="2147483659" r:id="Rbb2bf529cd3e496a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54b753d6024267" /><Relationship Type="http://schemas.openxmlformats.org/officeDocument/2006/relationships/image" Target="/ppt/media/image.jpeg" Id="R71a7e74fa2f841af" /><Relationship Type="http://schemas.openxmlformats.org/officeDocument/2006/relationships/image" Target="/ppt/media/image.png" Id="Rb2f102ce35c64828" /><Relationship Type="http://schemas.openxmlformats.org/officeDocument/2006/relationships/image" Target="/ppt/media/image2.png" Id="Rce3de5289f2743e9" /><Relationship Type="http://schemas.openxmlformats.org/officeDocument/2006/relationships/image" Target="/ppt/media/image3.png" Id="R2371c7fe73ec4e1a" /><Relationship Type="http://schemas.openxmlformats.org/officeDocument/2006/relationships/image" Target="/ppt/media/image4.png" Id="Rfa005bacc4834e90" /><Relationship Type="http://schemas.openxmlformats.org/officeDocument/2006/relationships/notesSlide" Target="/ppt/notesSlides/notesSlide1.xml" Id="R48f3a70e22b3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1E6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08EE6F1-AF60-425C-AC0F-1D26F41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20496454"/>
            <a:ext cx="14398631" cy="615197"/>
          </a:xfrm>
          <a:custGeom xmlns:a="http://schemas.openxmlformats.org/drawingml/2006/main">
            <a:rect l="l" t="t" r="r" b="b"/>
            <a:pathLst>
              <a:path w="2580072" h="110236">
                <a:moveTo>
                  <a:pt x="0" y="0"/>
                </a:moveTo>
                <a:lnTo>
                  <a:pt x="2580072" y="0"/>
                </a:lnTo>
                <a:lnTo>
                  <a:pt x="2580072" y="110236"/>
                </a:lnTo>
                <a:lnTo>
                  <a:pt x="0" y="110236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  <a:ln xmlns:a="http://schemas.openxmlformats.org/drawingml/2006/main">
            <a:noFill/>
            <a:prstDash val="solid"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90E54BA-4488-4127-A9F5-D62BCEC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19964890"/>
            <a:ext cx="14398631" cy="114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55224ED-9654-4DD2-B986-2EA8D3C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5418194"/>
            <a:ext cx="4517474" cy="5731689"/>
          </a:xfrm>
          <a:custGeom xmlns:a="http://schemas.openxmlformats.org/drawingml/2006/main">
            <a:rect l="l" t="t" r="r" b="b"/>
            <a:pathLst>
              <a:path w="907236" h="1151085">
                <a:moveTo>
                  <a:pt x="0" y="0"/>
                </a:moveTo>
                <a:lnTo>
                  <a:pt x="907236" y="0"/>
                </a:lnTo>
                <a:lnTo>
                  <a:pt x="907236" y="1151085"/>
                </a:lnTo>
                <a:lnTo>
                  <a:pt x="0" y="11510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EE5E67-3A29-4AE6-A613-C87D66FA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4943909"/>
            <a:ext cx="4517474" cy="6205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9543365-B6FB-4C9F-AB09-178CDCE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861" y="5402517"/>
            <a:ext cx="4698705" cy="5731689"/>
          </a:xfrm>
          <a:custGeom xmlns:a="http://schemas.openxmlformats.org/drawingml/2006/main">
            <a:rect l="l" t="t" r="r" b="b"/>
            <a:pathLst>
              <a:path w="943632" h="1151085">
                <a:moveTo>
                  <a:pt x="0" y="0"/>
                </a:moveTo>
                <a:lnTo>
                  <a:pt x="943632" y="0"/>
                </a:lnTo>
                <a:lnTo>
                  <a:pt x="943632" y="1151085"/>
                </a:lnTo>
                <a:lnTo>
                  <a:pt x="0" y="11510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AF792DA-B073-4DDF-9431-57E4C20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861" y="4928232"/>
            <a:ext cx="4698705" cy="6205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5C4B46D-B33B-4BA7-AF63-0E7ECCE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1750" y="-2490470"/>
            <a:ext cx="15145385" cy="4709160"/>
          </a:xfrm>
          <a:custGeom xmlns:a="http://schemas.openxmlformats.org/drawingml/2006/main">
            <a:rect l="l" t="t" r="r" b="b"/>
            <a:pathLst>
              <a:path w="3853567" h="843817">
                <a:moveTo>
                  <a:pt x="0" y="0"/>
                </a:moveTo>
                <a:lnTo>
                  <a:pt x="3853567" y="0"/>
                </a:lnTo>
                <a:lnTo>
                  <a:pt x="3853567" y="843817"/>
                </a:lnTo>
                <a:lnTo>
                  <a:pt x="0" y="843817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8C4F49A-E1D9-4E09-A25F-75822A9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1750" y="-2862568"/>
            <a:ext cx="15145385" cy="50812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0"/>
              </a:lnSpc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9E33A85-7013-4E14-B922-75251E2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0" y="-4610100"/>
            <a:ext cx="15144115" cy="6828790"/>
          </a:xfrm>
          <a:custGeom xmlns:a="http://schemas.openxmlformats.org/drawingml/2006/main">
            <a:rect l="l" t="t" r="r" b="b"/>
            <a:pathLst>
              <a:path w="17281491" h="7035199">
                <a:moveTo>
                  <a:pt x="0" y="0"/>
                </a:moveTo>
                <a:lnTo>
                  <a:pt x="17281491" y="0"/>
                </a:lnTo>
                <a:lnTo>
                  <a:pt x="17281491" y="7035199"/>
                </a:lnTo>
                <a:lnTo>
                  <a:pt x="0" y="70351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1a7e74fa2f841af">
              <a:alphaModFix amt="23000"/>
            </a:blip>
            <a:stretch>
              <a:fillRect l="0" t="-19087" r="0" b="-19087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A6FB5A8-D602-4D61-9CDB-11CF66C5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11372332"/>
            <a:ext cx="4777509" cy="8895522"/>
          </a:xfrm>
          <a:custGeom xmlns:a="http://schemas.openxmlformats.org/drawingml/2006/main">
            <a:rect l="l" t="t" r="r" b="b"/>
            <a:pathLst>
              <a:path w="959459" h="1786472">
                <a:moveTo>
                  <a:pt x="0" y="0"/>
                </a:moveTo>
                <a:lnTo>
                  <a:pt x="959459" y="0"/>
                </a:lnTo>
                <a:lnTo>
                  <a:pt x="959459" y="1786472"/>
                </a:lnTo>
                <a:lnTo>
                  <a:pt x="0" y="17864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5C4D78E-4F7E-4F5B-8976-18FD72A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10898047"/>
            <a:ext cx="4777509" cy="93698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BB85533-3891-4AB0-B50C-F1F7D77E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11368959"/>
            <a:ext cx="4785288" cy="632625"/>
          </a:xfrm>
          <a:custGeom xmlns:a="http://schemas.openxmlformats.org/drawingml/2006/main">
            <a:rect l="l" t="t" r="r" b="b"/>
            <a:pathLst>
              <a:path w="961021" h="127049">
                <a:moveTo>
                  <a:pt x="0" y="0"/>
                </a:moveTo>
                <a:lnTo>
                  <a:pt x="961021" y="0"/>
                </a:lnTo>
                <a:lnTo>
                  <a:pt x="961021" y="127049"/>
                </a:lnTo>
                <a:lnTo>
                  <a:pt x="0" y="127049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F50D9D-5202-492A-B01A-4704718B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10894674"/>
            <a:ext cx="4785288" cy="1106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934DB0A-820C-40ED-8287-C5B72267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2753207"/>
            <a:ext cx="14398631" cy="2430235"/>
          </a:xfrm>
          <a:custGeom xmlns:a="http://schemas.openxmlformats.org/drawingml/2006/main">
            <a:rect l="l" t="t" r="r" b="b"/>
            <a:pathLst>
              <a:path w="2891651" h="488060">
                <a:moveTo>
                  <a:pt x="0" y="0"/>
                </a:moveTo>
                <a:lnTo>
                  <a:pt x="2891651" y="0"/>
                </a:lnTo>
                <a:lnTo>
                  <a:pt x="2891651" y="488060"/>
                </a:lnTo>
                <a:lnTo>
                  <a:pt x="0" y="48806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20782E-8F1A-4E57-98DB-9796CFA0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2278922"/>
            <a:ext cx="14398631" cy="2904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7F5018F-D2C7-4E10-BFB7-BEEFACE2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2753207"/>
            <a:ext cx="14398631" cy="576539"/>
          </a:xfrm>
          <a:custGeom xmlns:a="http://schemas.openxmlformats.org/drawingml/2006/main">
            <a:rect l="l" t="t" r="r" b="b"/>
            <a:pathLst>
              <a:path w="2891651" h="115785">
                <a:moveTo>
                  <a:pt x="0" y="0"/>
                </a:moveTo>
                <a:lnTo>
                  <a:pt x="2891651" y="0"/>
                </a:lnTo>
                <a:lnTo>
                  <a:pt x="2891651" y="115785"/>
                </a:lnTo>
                <a:lnTo>
                  <a:pt x="0" y="115785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7BA1BC1-9665-4B74-9AD2-39D67AEB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84" y="2278920"/>
            <a:ext cx="14398631" cy="10508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25B1399-9367-4CB8-ADDB-5216393B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837" y="5418194"/>
            <a:ext cx="4513509" cy="603360"/>
          </a:xfrm>
          <a:custGeom xmlns:a="http://schemas.openxmlformats.org/drawingml/2006/main">
            <a:rect l="l" t="t" r="r" b="b"/>
            <a:pathLst>
              <a:path w="906440" h="121172">
                <a:moveTo>
                  <a:pt x="0" y="0"/>
                </a:moveTo>
                <a:lnTo>
                  <a:pt x="906440" y="0"/>
                </a:lnTo>
                <a:lnTo>
                  <a:pt x="906440" y="121172"/>
                </a:lnTo>
                <a:lnTo>
                  <a:pt x="0" y="121172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93C5D49-D2AA-43AA-B37C-FF123C3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837" y="4943910"/>
            <a:ext cx="4513509" cy="107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97B735A-064A-4CA4-8B62-385800A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11368959"/>
            <a:ext cx="9458883" cy="8898896"/>
          </a:xfrm>
          <a:custGeom xmlns:a="http://schemas.openxmlformats.org/drawingml/2006/main">
            <a:rect l="l" t="t" r="r" b="b"/>
            <a:pathLst>
              <a:path w="1899610" h="1787149">
                <a:moveTo>
                  <a:pt x="0" y="0"/>
                </a:moveTo>
                <a:lnTo>
                  <a:pt x="1899610" y="0"/>
                </a:lnTo>
                <a:lnTo>
                  <a:pt x="1899610" y="1787149"/>
                </a:lnTo>
                <a:lnTo>
                  <a:pt x="0" y="17871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DAEFBB67-1F62-4CBF-8E05-951010C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10894673"/>
            <a:ext cx="9458883" cy="93731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</a:p>
        </p:txBody>
      </p:sp>
      <p:pic>
        <p:nvPicPr>
          <p:cNvPr id="128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102ce35c64828"/>
          <a:srcRect xmlns:a="http://schemas.openxmlformats.org/drawingml/2006/main" l="0" t="14717" r="0" b="14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110" y="11916877"/>
            <a:ext cx="5016982" cy="3028950"/>
          </a:xfrm>
          <a:prstGeom xmlns:a="http://schemas.openxmlformats.org/drawingml/2006/main" prst="rect">
            <a:avLst/>
          </a:prstGeom>
        </p:spPr>
      </p:pic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BACCCE9-F7A7-4502-BCCB-DB9625E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861" y="5402517"/>
            <a:ext cx="4699849" cy="619036"/>
          </a:xfrm>
          <a:custGeom xmlns:a="http://schemas.openxmlformats.org/drawingml/2006/main">
            <a:rect l="l" t="t" r="r" b="b"/>
            <a:pathLst>
              <a:path w="943862" h="124320">
                <a:moveTo>
                  <a:pt x="0" y="0"/>
                </a:moveTo>
                <a:lnTo>
                  <a:pt x="943862" y="0"/>
                </a:lnTo>
                <a:lnTo>
                  <a:pt x="943862" y="124320"/>
                </a:lnTo>
                <a:lnTo>
                  <a:pt x="0" y="12432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481A1A2-001A-4879-A353-9B84B0B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861" y="4928232"/>
            <a:ext cx="4699849" cy="1093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8794406-8066-4229-9719-C9DF15A8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5418194"/>
            <a:ext cx="4777509" cy="5716013"/>
          </a:xfrm>
          <a:custGeom xmlns:a="http://schemas.openxmlformats.org/drawingml/2006/main">
            <a:rect l="l" t="t" r="r" b="b"/>
            <a:pathLst>
              <a:path w="959459" h="1147937">
                <a:moveTo>
                  <a:pt x="0" y="0"/>
                </a:moveTo>
                <a:lnTo>
                  <a:pt x="959459" y="0"/>
                </a:lnTo>
                <a:lnTo>
                  <a:pt x="959459" y="1147937"/>
                </a:lnTo>
                <a:lnTo>
                  <a:pt x="0" y="11479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1816C84-D2D7-4EFA-B631-035F6200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1806" y="4943909"/>
            <a:ext cx="4777509" cy="61902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9012AFD6-4802-4D09-9DE7-9A1933A9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396" y="5712035"/>
            <a:ext cx="3825759" cy="2229450"/>
          </a:xfrm>
          <a:custGeom xmlns:a="http://schemas.openxmlformats.org/drawingml/2006/main">
            <a:rect l="l" t="t" r="r" b="b"/>
            <a:pathLst>
              <a:path w="3825759" h="2229450">
                <a:moveTo>
                  <a:pt x="0" y="0"/>
                </a:moveTo>
                <a:lnTo>
                  <a:pt x="3825759" y="0"/>
                </a:lnTo>
                <a:lnTo>
                  <a:pt x="3825759" y="2229450"/>
                </a:lnTo>
                <a:lnTo>
                  <a:pt x="0" y="22294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e3de5289f2743e9"/>
            <a:srcRect l="0" t="9430" r="0" b="9430"/>
            <a:stretch>
              <a:fillRect l="0" t="0" r="0" b="0"/>
            </a:stretch>
          </a:blipFill>
          <a:ln xmlns:a="http://schemas.openxmlformats.org/drawingml/2006/main">
            <a:noFill/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FF36DF97-2A0E-497B-BDB1-ED4B33B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396" y="8496401"/>
            <a:ext cx="3825759" cy="2187175"/>
          </a:xfrm>
          <a:custGeom xmlns:a="http://schemas.openxmlformats.org/drawingml/2006/main">
            <a:rect l="l" t="t" r="r" b="b"/>
            <a:pathLst>
              <a:path w="3825759" h="2187175">
                <a:moveTo>
                  <a:pt x="0" y="0"/>
                </a:moveTo>
                <a:lnTo>
                  <a:pt x="3825759" y="0"/>
                </a:lnTo>
                <a:lnTo>
                  <a:pt x="3825759" y="2187175"/>
                </a:lnTo>
                <a:lnTo>
                  <a:pt x="0" y="21871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71c7fe73ec4e1a"/>
            <a:srcRect l="0" t="9430" r="0" b="9430"/>
            <a:stretch>
              <a:fillRect l="0" t="0" r="0" b="0"/>
            </a:stretch>
          </a:blipFill>
          <a:ln xmlns:a="http://schemas.openxmlformats.org/drawingml/2006/main">
            <a:noFill/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60CC7BA-3463-47B8-9F8B-BEA24296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11368959"/>
            <a:ext cx="9454013" cy="632625"/>
          </a:xfrm>
          <a:custGeom xmlns:a="http://schemas.openxmlformats.org/drawingml/2006/main">
            <a:rect l="l" t="t" r="r" b="b"/>
            <a:pathLst>
              <a:path w="1898632" h="127049">
                <a:moveTo>
                  <a:pt x="0" y="0"/>
                </a:moveTo>
                <a:lnTo>
                  <a:pt x="1898632" y="0"/>
                </a:lnTo>
                <a:lnTo>
                  <a:pt x="1898632" y="127049"/>
                </a:lnTo>
                <a:lnTo>
                  <a:pt x="0" y="127049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957FA91-C743-4894-9C85-B8A30399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854" y="10894674"/>
            <a:ext cx="9454013" cy="1106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75"/>
              </a:lnSpc>
              <a:buNone/>
            </a:pP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315E37B-7912-45EF-B57E-8B303BFA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6242455"/>
            <a:ext cx="362428" cy="3624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E598588-42F4-4C57-8A3F-CABCB1F7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82" y="16255196"/>
            <a:ext cx="294472" cy="315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1579" tIns="31579" rIns="31579" bIns="31579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8B17CA1E-CF01-49CC-955F-47DF2B8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6270325"/>
            <a:ext cx="362428" cy="28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sz="1735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01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2E53A39B-EE17-4E85-B0E5-D2AC14A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7268694"/>
            <a:ext cx="362428" cy="3624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B766752B-C032-450A-9F40-3E94F57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82" y="17281435"/>
            <a:ext cx="294472" cy="315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1579" tIns="31579" rIns="31579" bIns="31579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153594D-C69B-4302-8E43-9F7B7BC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7296564"/>
            <a:ext cx="362428" cy="28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sz="1735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02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7E66D1B-532F-4655-924B-F65EF6E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36" y="12379626"/>
            <a:ext cx="3847928" cy="2563682"/>
          </a:xfrm>
          <a:custGeom xmlns:a="http://schemas.openxmlformats.org/drawingml/2006/main">
            <a:rect l="l" t="t" r="r" b="b"/>
            <a:pathLst>
              <a:path w="3847928" h="2563682">
                <a:moveTo>
                  <a:pt x="0" y="0"/>
                </a:moveTo>
                <a:lnTo>
                  <a:pt x="3847928" y="0"/>
                </a:lnTo>
                <a:lnTo>
                  <a:pt x="3847928" y="2563682"/>
                </a:lnTo>
                <a:lnTo>
                  <a:pt x="0" y="25636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a005bacc4834e90"/>
            <a:srcRect l="0" t="11070" r="0" b="11070"/>
            <a:stretch>
              <a:fillRect l="0" t="0" r="0" b="0"/>
            </a:stretch>
          </a:blipFill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4136903-DC58-465F-8D6B-3F87FA0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8482658"/>
            <a:ext cx="362428" cy="3624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6F2A6424-E31E-4281-823D-6C58C9A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82" y="18495399"/>
            <a:ext cx="294472" cy="315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1579" tIns="31579" rIns="31579" bIns="31579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1404A4C9-1239-4174-9AC6-20A753D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8510528"/>
            <a:ext cx="362428" cy="28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sz="1735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01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630411C8-C6FB-46DD-B538-9E8DBAE7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9359436"/>
            <a:ext cx="362428" cy="36242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163612-7BA2-4465-BA08-65823CED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582" y="19372177"/>
            <a:ext cx="294472" cy="315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1579" tIns="31579" rIns="31579" bIns="31579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54C8816A-554E-4AE8-AE4E-EA7944C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05" y="19387306"/>
            <a:ext cx="362428" cy="285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sz="1735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02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3D02E4E-FEC0-4334-BC87-69BE577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0" y="943675"/>
            <a:ext cx="9094961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000"/>
              </a:lnSpc>
              <a:buNone/>
            </a:pPr>
            <a:r>
              <a:rPr sz="5000" b="1">
                <a:solidFill>
                  <a:srgbClr val="FFFFFF"/>
                </a:solidFill>
                <a:latin typeface="阿里巴巴普惠体 Medium"/>
                <a:ea typeface="阿里巴巴普惠体 Medium"/>
                <a:cs typeface="阿里巴巴普惠体 Medium"/>
              </a:rPr>
              <a:t>新编旦:TREE 教材重构增强引擎</a:t>
            </a:r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1F489137-45F5-44AA-BEC7-BDB2A8F4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7419667"/>
            <a:ext cx="4048064" cy="346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参考文献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E5C0528B-4707-4E44-AFF3-BF670CF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7897822"/>
            <a:ext cx="4324189" cy="11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核心技术：Tauri / React / TypeScript / Python / FastAPI
OCR 与检索：PaddleOCR / llama.cpp / Qwen3 Embedding
模型接口：OpenAI-compatible Chat API
开源仓库：github.com/Waylon524/tree（MIT）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FCCE231B-1978-4F80-92BB-D62CCD36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2084189"/>
            <a:ext cx="4048064" cy="346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总结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7E746001-9AA5-4469-9343-781E1445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2488049"/>
            <a:ext cx="4410690" cy="2560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已完成可安装的 macOS/Windows 桌面应用，贯通材料导入、OCR、知识建图、节点生成、阅读和反馈。
TREE 不是一次性摘要工具，而是可持续修订的学习工程：
- 3D 果树展示先修依赖与学习状态；
- 每个节点生成可导出的 Markdown 文件；
- 支持续跑、反馈微调和整树迁移；
- 迁移包排除密钥，失败不覆盖有效成果。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CE0C67FE-8471-4532-9117-257AB5C1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69" y="20602123"/>
            <a:ext cx="362434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FFFFFF"/>
                </a:solidFill>
                <a:latin typeface="字由点字典黑 1"/>
                <a:ea typeface="字由点字典黑 1"/>
                <a:cs typeface="字由点字典黑 1"/>
              </a:rPr>
              <a:t>GitHub：Waylon524/tree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FB2FCD44-5674-486E-9B4C-29CB241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20" y="2789188"/>
            <a:ext cx="5710202" cy="435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75"/>
              </a:lnSpc>
              <a:buNone/>
            </a:pP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项目</a:t>
            </a: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简介 Abstract</a:t>
            </a:r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AE682160-F081-4577-94B3-F5A9F411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20" y="3476944"/>
            <a:ext cx="13943760" cy="853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面向课程资料多格式、难检索、缺少先修结构的问题，TREE 提供一套本地桌面学习工作台。
材料进入后依次完成：解析/OCR、清洗、语义切分、向量索引、知识点聚类、先修依赖建图与多 Agent 生成。
最终得到可交互的知识果树和逐节点 Markdown 学习文件；学习者可按推荐顺序阅读、记录进度、反馈微调，并迁移整棵项目树。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72B6639E-467A-41AA-A80E-BE65529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45" y="6131091"/>
            <a:ext cx="4240621" cy="327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选题背景及意义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EE93175D-9737-403D-AB0B-53949546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45" y="6632517"/>
            <a:ext cx="4240621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教材资料格式分散，扫描件常含版面噪声；传统摘要也无法表达先修关系。
TREE 把材料、知识图谱和阅读进度统一管理，使生成可续跑、可检查、可修订。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5C46C9DC-BBD3-4F72-881C-CCFCF1A8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106" y="15041890"/>
            <a:ext cx="3366019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79 份知识点学习文件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65472CF8-D02A-4824-B767-0534364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45" y="8290661"/>
            <a:ext cx="4170620" cy="3136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720"/>
              </a:lnSpc>
              <a:buNone/>
            </a:pPr>
            <a:r>
              <a:rPr sz="17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应用场景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5D71F914-9B4D-4D33-8251-A1F44B38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45" y="8778116"/>
            <a:ext cx="4170620" cy="1706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面向学生、教师和课程资料整理者。
适用于教材章节拆解、多份讲义合并、考试复习资料重构，以及扫描课件 OCR 后结构化学习。
知识果树按先修关系推荐入口但不强制顺序；项目可导出为 Parent Tree，在另一台设备继续生成和阅读。</a:t>
            </a:r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650689AD-F5F8-4104-BF6D-7C1DB675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0" y="398085"/>
            <a:ext cx="10971087" cy="39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000" i="1">
                <a:solidFill>
                  <a:srgbClr val="FFFFFF"/>
                </a:solidFill>
                <a:latin typeface="字由点字典黑 2 Medium Italics"/>
                <a:ea typeface="字由点字典黑 2 Medium Italics"/>
                <a:cs typeface="字由点字典黑 2 Medium Italics"/>
              </a:rPr>
              <a:t>复旦大学“未来智造（AI Agent）工程师训练营”结题</a:t>
            </a:r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300A0576-148B-4806-9EBE-B915CC77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470" y="6131091"/>
            <a:ext cx="4412630" cy="327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数据来源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1ECB659C-E9E6-4B9E-815B-0C29212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470" y="6632517"/>
            <a:ext cx="4412630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输入支持 PDF、PPTX、Word、Markdown、文本和图片。
文本型资料直接解析，扫描件按需调用 PaddleOCR；清洗后切成可教学语义单元。
项目保存材料、图谱、生成结果与进度；迁移包主动排除 API Key。</a:t>
            </a: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939282EA-C9E7-4E43-A70B-C107284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470" y="8274985"/>
            <a:ext cx="4412630" cy="327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研究工具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E0B26D1A-AF49-4F26-B0B5-C0DE613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470" y="8776411"/>
            <a:ext cx="4412630" cy="227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桌面端：Tauri + TypeScript/React，统一承载项目、配置、运行和阅读界面。
引擎端：Python + FastAPI；llama.cpp/Qwen3 Embedding 建立本地向量索引。
模型端：兼容 OpenAI Chat API；Examiner、Student、Writer、Archivist、Dagger 分工完成审核、生成、归档与图谱修复。</a:t>
            </a:r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E56E04AE-1DE1-4890-BFED-3FFF3CD7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45" y="5454357"/>
            <a:ext cx="4170620" cy="435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75"/>
              </a:lnSpc>
              <a:buNone/>
            </a:pP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引言 Introduction</a:t>
            </a:r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D0B6B202-B806-46B8-9952-B8DAEA5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806" y="5446519"/>
            <a:ext cx="4170620" cy="435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75"/>
              </a:lnSpc>
              <a:buNone/>
            </a:pP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工具 Tools</a:t>
            </a:r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D89F28D5-B64C-4FBD-B1EF-35E85B03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1419755"/>
            <a:ext cx="4410690" cy="435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75"/>
              </a:lnSpc>
              <a:buNone/>
            </a:pP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总结 Conclusion</a:t>
            </a:r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C0BE3EE8-76D4-4666-A3BA-97490418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000" y="7951010"/>
            <a:ext cx="3366019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知识果树：先修关系与推荐阅读</a:t>
            </a:r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D563282-57E0-4423-B34B-E75C912A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534" y="10692712"/>
            <a:ext cx="3366019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Reader：节点学习与反馈微调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92EFA564-2EA3-46AF-8A61-CA11DC03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20" y="11432451"/>
            <a:ext cx="8481153" cy="435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75"/>
              </a:lnSpc>
              <a:buNone/>
            </a:pPr>
            <a:r>
              <a:rPr sz="2295">
                <a:solidFill>
                  <a:srgbClr val="FFFFFF"/>
                </a:solidFill>
                <a:latin typeface="字由点字典黑 2 Bold"/>
                <a:ea typeface="字由点字典黑 2 Bold"/>
                <a:cs typeface="字由点字典黑 2 Bold"/>
              </a:rPr>
              <a:t>研究方法与实验 Methods &amp; Experiments</a:t>
            </a:r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342A8009-C23B-45B7-A720-9EFA47B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81" y="16222835"/>
            <a:ext cx="8361455" cy="853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七阶段流水线：Gather 解析/OCR → Clean 去噪 → Cut 语义切分 → Embed 建索引 → Cluster 聚类知识点 → Link 建先修边 → NodeRun 生成学习文件。
材料未变化时复用可读中间产物，仅继续失败或未完成节点，避免重复计算。</a:t>
            </a:r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DB353412-2AB3-44EA-A62A-FFB998DA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81" y="17178128"/>
            <a:ext cx="7884809" cy="568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多 Agent 分工：Examiner/Student 找缺口，Writer 生成或反馈修订，Archivist/Dagger 管理证据和图谱；节点原子写入，失败不覆盖成果，运行可恢复。</a:t>
            </a:r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63789BA3-E508-415A-BE13-ADCFACA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435" y="1505650"/>
            <a:ext cx="5512002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00"/>
              </a:lnSpc>
              <a:buNone/>
            </a:pPr>
            <a:r>
              <a:rPr sz="2000" b="1">
                <a:solidFill>
                  <a:srgbClr val="FFFFFF"/>
                </a:solidFill>
                <a:latin typeface="阿里巴巴普惠体 Medium"/>
                <a:ea typeface="阿里巴巴普惠体 Medium"/>
                <a:cs typeface="阿里巴巴普惠体 Medium"/>
              </a:rPr>
              <a:t>新编旦（Dawn Draft）【项目团队】</a:t>
            </a:r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EA98F44F-940B-4137-A568-4B21455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71" y="20602123"/>
            <a:ext cx="362434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buNone/>
            </a:pPr>
            <a:r>
              <a:rPr sz="1800">
                <a:solidFill>
                  <a:srgbClr val="FFFFFF"/>
                </a:solidFill>
                <a:latin typeface="字由点字典黑 1"/>
                <a:ea typeface="字由点字典黑 1"/>
                <a:cs typeface="字由点字典黑 1"/>
              </a:rPr>
              <a:t>开源协议：MIT｜版本：v0.3.7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1A3BF2A4-7D98-4668-8F27-4BD12FAE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52" y="15041890"/>
            <a:ext cx="3366019" cy="284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七阶段生长流水线</a:t>
            </a:r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EC3D737B-7E2B-4ABF-8055-B7D4406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5" y="15704674"/>
            <a:ext cx="933624" cy="346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项目方法</a:t>
            </a:r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CB54B0EA-8B99-4474-9A51-771E866A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5" y="17888297"/>
            <a:ext cx="933624" cy="346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实验验证</a:t>
            </a:r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749D485B-3DBE-45FC-B926-B75B0D8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81" y="18463037"/>
            <a:ext cx="8361455" cy="853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真实课程案例导入 4 份材料，完成 85 个语义单元嵌入，形成 79 个知识点与 100 条先修依赖边，并输出 79 份 Markdown 学习文件。
界面展示各阶段完成率、复用状态和失败节点，便于定位问题而非只等待黑盒结果。</a:t>
            </a:r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6E8BC4B0-107A-4EE6-AE0F-E108733C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81" y="19339815"/>
            <a:ext cx="8380119" cy="11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端到端 79/79 节点生成完成。学习者可在 3D 果树查看推荐节点与先后关系，在 Reader 中阅读、标记完成并提交反馈。
反馈只触发当前节点的 Writer 定向修订；成功后备份旧文件并重新索引，失败则保留原文件。</a:t>
            </a:r>
          </a:p>
          <a:p xmlns:a="http://schemas.openxmlformats.org/drawingml/2006/main">
            <a:pPr marL="0" indent="0">
              <a:lnSpc>
                <a:spcPts val="2240"/>
              </a:lnSpc>
              <a:buNone/>
            </a:pPr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5B802BE6-E667-4214-963E-15F9A622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5209854"/>
            <a:ext cx="914251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80"/>
              </a:lnSpc>
              <a:spcBef>
                <a:spcPts val="0"/>
              </a:spcBef>
              <a:buNone/>
            </a:pPr>
            <a:r>
              <a:rPr sz="1800">
                <a:solidFill>
                  <a:srgbClr val="000000"/>
                </a:solidFill>
                <a:latin typeface="字由点字典黑 2 Bold"/>
                <a:ea typeface="字由点字典黑 2 Bold"/>
                <a:cs typeface="字由点字典黑 2 Bold"/>
              </a:rPr>
              <a:t>展望</a:t>
            </a:r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26132B35-6DC4-4BE7-82B0-CF8FD0D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091" y="15618946"/>
            <a:ext cx="4324189" cy="11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2240"/>
              </a:lnSpc>
              <a:buNone/>
            </a:pPr>
            <a:r>
              <a:rPr sz="140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下一步将扩展多学科基准，分别评估 OCR 版面恢复、知识点覆盖、先修边质量和学习文件可用性；并优化长任务诊断、图谱交互与本地模型性能，降低首次配置门槛。</a:t>
            </a:r>
          </a:p>
        </p:txBody>
      </p:sp>
    </p:spTree>
    <p:extLst>
      <p:ext uri="{BB962C8B-B14F-4D97-AF65-F5344CB8AC3E}">
        <p14:creationId xmlns:p14="http://schemas.microsoft.com/office/powerpoint/2010/main" val="8392143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2026-07-13T01:59:13.1680000Z</dcterms:created>
  <dcterms:modified xsi:type="dcterms:W3CDTF">2026-07-13T01:59:13.1680000Z</dcterms:modified>
</coreProperties>
</file>