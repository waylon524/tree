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5113000" cy="21374100"/>
  <p:notesSz cx="6858000" cy="9144000"/>
  <p:embeddedFontLst>
    <p:embeddedFont>
      <p:font typeface="DengXian" panose="02010600030101010101" pitchFamily="2" charset="-122"/>
      <p:regular r:id="rId4"/>
      <p:bold r:id="rId5"/>
    </p:embeddedFont>
    <p:embeddedFont>
      <p:font typeface="字由点字典黑 1 Bold"/>
      <p:regular r:id="rId6"/>
    </p:embeddedFont>
  </p:embeddedFont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57"/>
    <p:restoredTop sz="94658"/>
  </p:normalViewPr>
  <p:slideViewPr>
    <p:cSldViewPr snapToGrid="0">
      <p:cViewPr>
        <p:scale>
          <a:sx n="60" d="100"/>
          <a:sy n="60" d="100"/>
        </p:scale>
        <p:origin x="1408" y="-2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9C870-9956-4806-902C-9E177DC35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AB5E9D-0218-4C7A-81B2-268887BB98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88798-7E3A-4E48-A6BE-678AA794BA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EF838-FFEB-4344-A1FF-85633D47F0C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3479A-C45A-4957-A194-B1F354E266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E0D64-E4B7-4B62-B06D-D312840FB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E4A5-4E3D-4453-A886-AEEDA752A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ECC3D-FE31-4A36-8E7C-54A1851785F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2C093-6616-472C-ABD1-761FEA93B6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72363-E178-4BA2-8744-0079C355D8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E1D4-9F00-4CB7-BF69-0CF871ADA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1CD57-3576-43B4-83E7-F5BA5F36C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613FE-A318-4D0B-9D20-EF3283D9A5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911F5-7586-401B-9623-54430E9C6E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ABFD6-090D-4A78-AFD3-702E6C8A253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14E8-6B88-492F-A4E1-935A00C5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94303-F016-4FF7-9D01-6D9194803A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B5B0F-FDC2-4500-A31C-08FFDE431C6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9368C-C854-4E9F-974F-1155349287E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4880F-D43C-40E4-91CD-A13052C753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BCA99-D1AE-42C2-B340-49879A2A3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3F074-B606-4FE5-88DC-E51FD31E3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8C194-A763-4714-BD00-4DBF59C6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282877-9D72-436A-B4EE-9B9FCAA8097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4C30A2-3013-447A-A073-1C16F26EED47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F508A-0EDC-4B20-A6AC-4B4F4AC2D1C7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DBFD3A-4E56-438C-BCD8-8EAB7EC0D7B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B3A2E-32BD-4B3D-8D96-2D6B2A2F6B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D4508D-6E5B-4B58-BF5C-B0DEE2BFD7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320F3-1E3C-48F9-9E05-C8E021506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5A113-7C00-4B9A-9922-984CA4705C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34908-7C57-4F01-B044-21B939E2D6D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1320DD-AE3B-45C1-A71E-9EDE89B701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73117C-C13C-49F9-ACAB-4726F337F8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3EB38E-82DB-46FD-B02C-DE2523E53A1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066AB-97BC-4009-BBD2-F52BD2D336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B8223-8DE3-4D49-82C9-B159642C5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87175-5CAA-4B12-B6AB-5F4DBAE08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D9BB6-E95A-4365-ADE4-3368A5E17D0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E261B-FC1D-4B2D-9F9A-B6786BA967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DE99E-CF7E-4F5E-B872-A741B132CC4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140B0-286F-4894-82F7-61F5BFE86B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21DC6-31EC-490D-BE49-C47B70AE8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259FB1-F8C6-442D-977B-66B78E9201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6042A-F3C3-43D3-AC3C-EB6BC0BF25F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1A0F2-6AAB-4474-BC8B-C2940D5E53F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54BD2-64A5-41B9-B7E0-B5D4BCEBC0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6E2F5-5070-4AC8-9723-5EB2DF4AE7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C0178-F9A0-4865-81D3-9EAC04FB0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BFFB8-056F-4A8E-9989-62E7D2F84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2FF33-5ED6-4F4C-B198-5F7807BF140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A2C03-8341-47E4-A49A-BC949242DE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9BD2E-9726-49B2-848A-7529847D49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8DBD98-37F6-4417-B109-6C40CFA7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96CDB-AFF8-4310-86DC-74CA53AB8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461C0-63A8-4003-9783-748D48C5CB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5835-FFF6-47D6-83B9-43FDE230C6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1C458-53BD-4027-AAAA-59E0F52966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AFC073-BD1E-46AA-AB95-DAB76A852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11B40-AB90-4EB8-87D1-35D789330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96411-FEE0-423E-B965-73D4D6BBB09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E3C68-D7DF-40B4-8FA2-0331A556D0D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80C34-F40B-4D30-B9E4-96D6733B22C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6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208EE6F1-AF60-425C-AC0F-1D26F41FC6F4}"/>
              </a:ext>
            </a:extLst>
          </p:cNvPr>
          <p:cNvSpPr>
            <a:spLocks noGrp="1"/>
          </p:cNvSpPr>
          <p:nvPr/>
        </p:nvSpPr>
        <p:spPr>
          <a:xfrm>
            <a:off x="360684" y="20496454"/>
            <a:ext cx="14398631" cy="615197"/>
          </a:xfrm>
          <a:custGeom>
            <a:avLst/>
            <a:gdLst/>
            <a:ahLst/>
            <a:cxnLst/>
            <a:rect l="l" t="t" r="r" b="b"/>
            <a:pathLst>
              <a:path w="2580072" h="110236">
                <a:moveTo>
                  <a:pt x="0" y="0"/>
                </a:moveTo>
                <a:lnTo>
                  <a:pt x="2580072" y="0"/>
                </a:lnTo>
                <a:lnTo>
                  <a:pt x="2580072" y="110236"/>
                </a:lnTo>
                <a:lnTo>
                  <a:pt x="0" y="110236"/>
                </a:lnTo>
                <a:close/>
              </a:path>
            </a:pathLst>
          </a:custGeom>
          <a:gradFill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  <a:ln>
            <a:noFill/>
            <a:prstDash val="solid"/>
          </a:ln>
        </p:spPr>
        <p:txBody>
          <a:bodyPr/>
          <a:lstStyle/>
          <a:p>
            <a:endParaRPr lang="zh-CN" noProof="0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90E54BA-4488-4127-A9F5-D62BCECD8C2A}"/>
              </a:ext>
            </a:extLst>
          </p:cNvPr>
          <p:cNvSpPr>
            <a:spLocks noGrp="1"/>
          </p:cNvSpPr>
          <p:nvPr/>
        </p:nvSpPr>
        <p:spPr>
          <a:xfrm>
            <a:off x="360684" y="19964890"/>
            <a:ext cx="14398631" cy="114676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marL="0" indent="0" algn="ctr">
              <a:lnSpc>
                <a:spcPts val="3675"/>
              </a:lnSpc>
              <a:spcBef>
                <a:spcPts val="0"/>
              </a:spcBef>
              <a:buNone/>
            </a:pPr>
            <a:endParaRPr lang="zh-CN" noProof="0" dirty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55224ED-9654-4DD2-B986-2EA8D3C1BEF2}"/>
              </a:ext>
            </a:extLst>
          </p:cNvPr>
          <p:cNvSpPr>
            <a:spLocks noGrp="1"/>
          </p:cNvSpPr>
          <p:nvPr/>
        </p:nvSpPr>
        <p:spPr>
          <a:xfrm>
            <a:off x="359854" y="5418194"/>
            <a:ext cx="4517474" cy="5731689"/>
          </a:xfrm>
          <a:custGeom>
            <a:avLst/>
            <a:gdLst/>
            <a:ahLst/>
            <a:cxnLst/>
            <a:rect l="l" t="t" r="r" b="b"/>
            <a:pathLst>
              <a:path w="907236" h="1151085">
                <a:moveTo>
                  <a:pt x="0" y="0"/>
                </a:moveTo>
                <a:lnTo>
                  <a:pt x="907236" y="0"/>
                </a:lnTo>
                <a:lnTo>
                  <a:pt x="907236" y="1151085"/>
                </a:lnTo>
                <a:lnTo>
                  <a:pt x="0" y="1151085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/>
          <a:lstStyle/>
          <a:p>
            <a:endParaRPr lang="zh-CN" noProof="0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6EE5E67-3A29-4AE6-A613-C87D66FAD79A}"/>
              </a:ext>
            </a:extLst>
          </p:cNvPr>
          <p:cNvSpPr>
            <a:spLocks noGrp="1"/>
          </p:cNvSpPr>
          <p:nvPr/>
        </p:nvSpPr>
        <p:spPr>
          <a:xfrm>
            <a:off x="359854" y="4943909"/>
            <a:ext cx="4517474" cy="620597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marL="0" indent="0" algn="ctr">
              <a:lnSpc>
                <a:spcPts val="3675"/>
              </a:lnSpc>
              <a:spcBef>
                <a:spcPts val="0"/>
              </a:spcBef>
              <a:buNone/>
            </a:pPr>
            <a:endParaRPr lang="zh-CN" noProof="0" dirty="0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9543365-B6FB-4C9F-AB09-178CDCE8AFF6}"/>
              </a:ext>
            </a:extLst>
          </p:cNvPr>
          <p:cNvSpPr>
            <a:spLocks noGrp="1"/>
          </p:cNvSpPr>
          <p:nvPr/>
        </p:nvSpPr>
        <p:spPr>
          <a:xfrm>
            <a:off x="5086861" y="5402517"/>
            <a:ext cx="4698705" cy="5731689"/>
          </a:xfrm>
          <a:custGeom>
            <a:avLst/>
            <a:gdLst/>
            <a:ahLst/>
            <a:cxnLst/>
            <a:rect l="l" t="t" r="r" b="b"/>
            <a:pathLst>
              <a:path w="943632" h="1151085">
                <a:moveTo>
                  <a:pt x="0" y="0"/>
                </a:moveTo>
                <a:lnTo>
                  <a:pt x="943632" y="0"/>
                </a:lnTo>
                <a:lnTo>
                  <a:pt x="943632" y="1151085"/>
                </a:lnTo>
                <a:lnTo>
                  <a:pt x="0" y="1151085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/>
          <a:lstStyle/>
          <a:p>
            <a:endParaRPr lang="zh-CN" noProof="0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AF792DA-B073-4DDF-9431-57E4C205227F}"/>
              </a:ext>
            </a:extLst>
          </p:cNvPr>
          <p:cNvSpPr>
            <a:spLocks noGrp="1"/>
          </p:cNvSpPr>
          <p:nvPr/>
        </p:nvSpPr>
        <p:spPr>
          <a:xfrm>
            <a:off x="5086861" y="4928232"/>
            <a:ext cx="4698705" cy="6205975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marL="0" indent="0" algn="ctr">
              <a:lnSpc>
                <a:spcPts val="3675"/>
              </a:lnSpc>
              <a:spcBef>
                <a:spcPts val="0"/>
              </a:spcBef>
              <a:buNone/>
            </a:pPr>
            <a:endParaRPr lang="zh-CN" noProof="0" dirty="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95C4B46D-B33B-4BA7-AF63-0E7ECCE0AD14}"/>
              </a:ext>
            </a:extLst>
          </p:cNvPr>
          <p:cNvSpPr>
            <a:spLocks noGrp="1"/>
          </p:cNvSpPr>
          <p:nvPr/>
        </p:nvSpPr>
        <p:spPr>
          <a:xfrm>
            <a:off x="-31750" y="-2490470"/>
            <a:ext cx="15145385" cy="4709160"/>
          </a:xfrm>
          <a:custGeom>
            <a:avLst/>
            <a:gdLst/>
            <a:ahLst/>
            <a:cxnLst/>
            <a:rect l="l" t="t" r="r" b="b"/>
            <a:pathLst>
              <a:path w="3853567" h="843817">
                <a:moveTo>
                  <a:pt x="0" y="0"/>
                </a:moveTo>
                <a:lnTo>
                  <a:pt x="3853567" y="0"/>
                </a:lnTo>
                <a:lnTo>
                  <a:pt x="3853567" y="843817"/>
                </a:lnTo>
                <a:lnTo>
                  <a:pt x="0" y="843817"/>
                </a:lnTo>
                <a:close/>
              </a:path>
            </a:pathLst>
          </a:custGeom>
          <a:gradFill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zh-CN" noProof="0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8C4F49A-E1D9-4E09-A25F-75822A9A4671}"/>
              </a:ext>
            </a:extLst>
          </p:cNvPr>
          <p:cNvSpPr>
            <a:spLocks noGrp="1"/>
          </p:cNvSpPr>
          <p:nvPr/>
        </p:nvSpPr>
        <p:spPr>
          <a:xfrm>
            <a:off x="-31750" y="-2862568"/>
            <a:ext cx="15145385" cy="508125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880"/>
              </a:lnSpc>
              <a:buNone/>
            </a:pPr>
            <a:endParaRPr lang="zh-CN" noProof="0" dirty="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29E33A85-7013-4E14-B922-75251E2F89C7}"/>
              </a:ext>
            </a:extLst>
          </p:cNvPr>
          <p:cNvSpPr>
            <a:spLocks noGrp="1"/>
          </p:cNvSpPr>
          <p:nvPr/>
        </p:nvSpPr>
        <p:spPr>
          <a:xfrm>
            <a:off x="-31750" y="-4610100"/>
            <a:ext cx="15144115" cy="6828790"/>
          </a:xfrm>
          <a:custGeom>
            <a:avLst/>
            <a:gdLst/>
            <a:ahLst/>
            <a:cxnLst/>
            <a:rect l="l" t="t" r="r" b="b"/>
            <a:pathLst>
              <a:path w="17281491" h="7035199">
                <a:moveTo>
                  <a:pt x="0" y="0"/>
                </a:moveTo>
                <a:lnTo>
                  <a:pt x="17281491" y="0"/>
                </a:lnTo>
                <a:lnTo>
                  <a:pt x="17281491" y="7035199"/>
                </a:lnTo>
                <a:lnTo>
                  <a:pt x="0" y="7035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t="-19087" b="-19087"/>
            </a:stretch>
          </a:blipFill>
        </p:spPr>
        <p:txBody>
          <a:bodyPr/>
          <a:lstStyle/>
          <a:p>
            <a:endParaRPr lang="zh-CN" noProof="0" dirty="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2A6FB5A8-D602-4D61-9CDB-11CF66C573DA}"/>
              </a:ext>
            </a:extLst>
          </p:cNvPr>
          <p:cNvSpPr>
            <a:spLocks noGrp="1"/>
          </p:cNvSpPr>
          <p:nvPr/>
        </p:nvSpPr>
        <p:spPr>
          <a:xfrm>
            <a:off x="9981806" y="11372332"/>
            <a:ext cx="4777509" cy="8895522"/>
          </a:xfrm>
          <a:custGeom>
            <a:avLst/>
            <a:gdLst/>
            <a:ahLst/>
            <a:cxnLst/>
            <a:rect l="l" t="t" r="r" b="b"/>
            <a:pathLst>
              <a:path w="959459" h="1786472">
                <a:moveTo>
                  <a:pt x="0" y="0"/>
                </a:moveTo>
                <a:lnTo>
                  <a:pt x="959459" y="0"/>
                </a:lnTo>
                <a:lnTo>
                  <a:pt x="959459" y="1786472"/>
                </a:lnTo>
                <a:lnTo>
                  <a:pt x="0" y="1786472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/>
          <a:lstStyle/>
          <a:p>
            <a:endParaRPr lang="zh-CN" noProof="0" dirty="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5C4D78E-4F7E-4F5B-8976-18FD72A81E7F}"/>
              </a:ext>
            </a:extLst>
          </p:cNvPr>
          <p:cNvSpPr>
            <a:spLocks noGrp="1"/>
          </p:cNvSpPr>
          <p:nvPr/>
        </p:nvSpPr>
        <p:spPr>
          <a:xfrm>
            <a:off x="9981806" y="10898047"/>
            <a:ext cx="4777509" cy="936980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675"/>
              </a:lnSpc>
              <a:buNone/>
            </a:pPr>
            <a:endParaRPr lang="zh-CN" noProof="0" dirty="0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9BB85533-3891-4AB0-B50C-F1F7D77EED40}"/>
              </a:ext>
            </a:extLst>
          </p:cNvPr>
          <p:cNvSpPr>
            <a:spLocks noGrp="1"/>
          </p:cNvSpPr>
          <p:nvPr/>
        </p:nvSpPr>
        <p:spPr>
          <a:xfrm>
            <a:off x="9981806" y="11368959"/>
            <a:ext cx="4785288" cy="632625"/>
          </a:xfrm>
          <a:custGeom>
            <a:avLst/>
            <a:gdLst/>
            <a:ahLst/>
            <a:cxnLst/>
            <a:rect l="l" t="t" r="r" b="b"/>
            <a:pathLst>
              <a:path w="961021" h="127049">
                <a:moveTo>
                  <a:pt x="0" y="0"/>
                </a:moveTo>
                <a:lnTo>
                  <a:pt x="961021" y="0"/>
                </a:lnTo>
                <a:lnTo>
                  <a:pt x="961021" y="127049"/>
                </a:lnTo>
                <a:lnTo>
                  <a:pt x="0" y="127049"/>
                </a:lnTo>
                <a:close/>
              </a:path>
            </a:pathLst>
          </a:custGeom>
          <a:gradFill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zh-CN" noProof="0" dirty="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BF50D9D-5202-492A-B01A-4704718B8219}"/>
              </a:ext>
            </a:extLst>
          </p:cNvPr>
          <p:cNvSpPr>
            <a:spLocks noGrp="1"/>
          </p:cNvSpPr>
          <p:nvPr/>
        </p:nvSpPr>
        <p:spPr>
          <a:xfrm>
            <a:off x="9981806" y="10894674"/>
            <a:ext cx="4785288" cy="110691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675"/>
              </a:lnSpc>
              <a:buNone/>
            </a:pPr>
            <a:endParaRPr lang="zh-CN" noProof="0" dirty="0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D934DB0A-820C-40ED-8287-C5B72267892E}"/>
              </a:ext>
            </a:extLst>
          </p:cNvPr>
          <p:cNvSpPr>
            <a:spLocks noGrp="1"/>
          </p:cNvSpPr>
          <p:nvPr/>
        </p:nvSpPr>
        <p:spPr>
          <a:xfrm>
            <a:off x="360684" y="2753207"/>
            <a:ext cx="14398631" cy="2430235"/>
          </a:xfrm>
          <a:custGeom>
            <a:avLst/>
            <a:gdLst/>
            <a:ahLst/>
            <a:cxnLst/>
            <a:rect l="l" t="t" r="r" b="b"/>
            <a:pathLst>
              <a:path w="2891651" h="488060">
                <a:moveTo>
                  <a:pt x="0" y="0"/>
                </a:moveTo>
                <a:lnTo>
                  <a:pt x="2891651" y="0"/>
                </a:lnTo>
                <a:lnTo>
                  <a:pt x="2891651" y="488060"/>
                </a:lnTo>
                <a:lnTo>
                  <a:pt x="0" y="48806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/>
          <a:lstStyle/>
          <a:p>
            <a:endParaRPr lang="zh-CN" noProof="0" dirty="0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F20782E-8F1A-4E57-98DB-9796CFA085E7}"/>
              </a:ext>
            </a:extLst>
          </p:cNvPr>
          <p:cNvSpPr>
            <a:spLocks noGrp="1"/>
          </p:cNvSpPr>
          <p:nvPr/>
        </p:nvSpPr>
        <p:spPr>
          <a:xfrm>
            <a:off x="360684" y="2278922"/>
            <a:ext cx="14398631" cy="290452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675"/>
              </a:lnSpc>
              <a:buNone/>
            </a:pPr>
            <a:endParaRPr lang="zh-CN" noProof="0" dirty="0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47F5018F-D2C7-4E10-BFB7-BEEFACE29263}"/>
              </a:ext>
            </a:extLst>
          </p:cNvPr>
          <p:cNvSpPr>
            <a:spLocks noGrp="1"/>
          </p:cNvSpPr>
          <p:nvPr/>
        </p:nvSpPr>
        <p:spPr>
          <a:xfrm>
            <a:off x="360684" y="2753207"/>
            <a:ext cx="14398631" cy="576539"/>
          </a:xfrm>
          <a:custGeom>
            <a:avLst/>
            <a:gdLst/>
            <a:ahLst/>
            <a:cxnLst/>
            <a:rect l="l" t="t" r="r" b="b"/>
            <a:pathLst>
              <a:path w="2891651" h="115785">
                <a:moveTo>
                  <a:pt x="0" y="0"/>
                </a:moveTo>
                <a:lnTo>
                  <a:pt x="2891651" y="0"/>
                </a:lnTo>
                <a:lnTo>
                  <a:pt x="2891651" y="115785"/>
                </a:lnTo>
                <a:lnTo>
                  <a:pt x="0" y="115785"/>
                </a:lnTo>
                <a:close/>
              </a:path>
            </a:pathLst>
          </a:custGeom>
          <a:gradFill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zh-CN" noProof="0" dirty="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7BA1BC1-9665-4B74-9AD2-39D67AEBF2A6}"/>
              </a:ext>
            </a:extLst>
          </p:cNvPr>
          <p:cNvSpPr>
            <a:spLocks noGrp="1"/>
          </p:cNvSpPr>
          <p:nvPr/>
        </p:nvSpPr>
        <p:spPr>
          <a:xfrm>
            <a:off x="360684" y="2278920"/>
            <a:ext cx="14398631" cy="1050826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675"/>
              </a:lnSpc>
              <a:buNone/>
            </a:pPr>
            <a:endParaRPr lang="zh-CN" noProof="0" dirty="0"/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F25B1399-9367-4CB8-ADDB-5216393B9348}"/>
              </a:ext>
            </a:extLst>
          </p:cNvPr>
          <p:cNvSpPr>
            <a:spLocks noGrp="1"/>
          </p:cNvSpPr>
          <p:nvPr/>
        </p:nvSpPr>
        <p:spPr>
          <a:xfrm>
            <a:off x="361837" y="5418194"/>
            <a:ext cx="4513509" cy="603360"/>
          </a:xfrm>
          <a:custGeom>
            <a:avLst/>
            <a:gdLst/>
            <a:ahLst/>
            <a:cxnLst/>
            <a:rect l="l" t="t" r="r" b="b"/>
            <a:pathLst>
              <a:path w="906440" h="121172">
                <a:moveTo>
                  <a:pt x="0" y="0"/>
                </a:moveTo>
                <a:lnTo>
                  <a:pt x="906440" y="0"/>
                </a:lnTo>
                <a:lnTo>
                  <a:pt x="906440" y="121172"/>
                </a:lnTo>
                <a:lnTo>
                  <a:pt x="0" y="121172"/>
                </a:lnTo>
                <a:close/>
              </a:path>
            </a:pathLst>
          </a:custGeom>
          <a:gradFill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zh-CN" noProof="0" dirty="0"/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D93C5D49-D2AA-43AA-B37C-FF123C34B126}"/>
              </a:ext>
            </a:extLst>
          </p:cNvPr>
          <p:cNvSpPr>
            <a:spLocks noGrp="1"/>
          </p:cNvSpPr>
          <p:nvPr/>
        </p:nvSpPr>
        <p:spPr>
          <a:xfrm>
            <a:off x="361837" y="4943910"/>
            <a:ext cx="4513509" cy="1077644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675"/>
              </a:lnSpc>
              <a:buNone/>
            </a:pPr>
            <a:endParaRPr lang="zh-CN" noProof="0" dirty="0"/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897B735A-064A-4CA4-8B62-385800A326D2}"/>
              </a:ext>
            </a:extLst>
          </p:cNvPr>
          <p:cNvSpPr>
            <a:spLocks noGrp="1"/>
          </p:cNvSpPr>
          <p:nvPr/>
        </p:nvSpPr>
        <p:spPr>
          <a:xfrm>
            <a:off x="359854" y="11368959"/>
            <a:ext cx="9458883" cy="8898896"/>
          </a:xfrm>
          <a:custGeom>
            <a:avLst/>
            <a:gdLst/>
            <a:ahLst/>
            <a:cxnLst/>
            <a:rect l="l" t="t" r="r" b="b"/>
            <a:pathLst>
              <a:path w="1899610" h="1787149">
                <a:moveTo>
                  <a:pt x="0" y="0"/>
                </a:moveTo>
                <a:lnTo>
                  <a:pt x="1899610" y="0"/>
                </a:lnTo>
                <a:lnTo>
                  <a:pt x="1899610" y="1787149"/>
                </a:lnTo>
                <a:lnTo>
                  <a:pt x="0" y="1787149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/>
          <a:lstStyle/>
          <a:p>
            <a:endParaRPr lang="zh-CN" noProof="0" dirty="0"/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DAEFBB67-1F62-4CBF-8E05-951010C25307}"/>
              </a:ext>
            </a:extLst>
          </p:cNvPr>
          <p:cNvSpPr>
            <a:spLocks noGrp="1"/>
          </p:cNvSpPr>
          <p:nvPr/>
        </p:nvSpPr>
        <p:spPr>
          <a:xfrm>
            <a:off x="359854" y="10894673"/>
            <a:ext cx="9458883" cy="9373182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marL="0" indent="0" algn="ctr">
              <a:lnSpc>
                <a:spcPts val="3675"/>
              </a:lnSpc>
              <a:spcBef>
                <a:spcPts val="0"/>
              </a:spcBef>
              <a:buNone/>
            </a:pPr>
            <a:endParaRPr lang="zh-CN" noProof="0" dirty="0"/>
          </a:p>
        </p:txBody>
      </p:sp>
      <p:pic>
        <p:nvPicPr>
          <p:cNvPr id="128" name="Picture 33"/>
          <p:cNvPicPr>
            <a:picLocks noChangeAspect="1"/>
          </p:cNvPicPr>
          <p:nvPr/>
        </p:nvPicPr>
        <p:blipFill>
          <a:blip r:embed="rId4"/>
          <a:srcRect t="14717" b="14717"/>
          <a:stretch>
            <a:fillRect/>
          </a:stretch>
        </p:blipFill>
        <p:spPr>
          <a:xfrm>
            <a:off x="5284042" y="12379625"/>
            <a:ext cx="4190969" cy="2569519"/>
          </a:xfrm>
          <a:prstGeom prst="rect">
            <a:avLst/>
          </a:prstGeom>
        </p:spPr>
      </p:pic>
      <p:sp>
        <p:nvSpPr>
          <p:cNvPr id="35" name="Freeform 35">
            <a:extLst>
              <a:ext uri="{FF2B5EF4-FFF2-40B4-BE49-F238E27FC236}">
                <a16:creationId xmlns:a16="http://schemas.microsoft.com/office/drawing/2014/main" id="{FBACCCE9-F7A7-4502-BCCB-DB9625E1AE93}"/>
              </a:ext>
            </a:extLst>
          </p:cNvPr>
          <p:cNvSpPr>
            <a:spLocks noGrp="1"/>
          </p:cNvSpPr>
          <p:nvPr/>
        </p:nvSpPr>
        <p:spPr>
          <a:xfrm>
            <a:off x="5086861" y="5402517"/>
            <a:ext cx="4699849" cy="619036"/>
          </a:xfrm>
          <a:custGeom>
            <a:avLst/>
            <a:gdLst/>
            <a:ahLst/>
            <a:cxnLst/>
            <a:rect l="l" t="t" r="r" b="b"/>
            <a:pathLst>
              <a:path w="943862" h="124320">
                <a:moveTo>
                  <a:pt x="0" y="0"/>
                </a:moveTo>
                <a:lnTo>
                  <a:pt x="943862" y="0"/>
                </a:lnTo>
                <a:lnTo>
                  <a:pt x="943862" y="124320"/>
                </a:lnTo>
                <a:lnTo>
                  <a:pt x="0" y="124320"/>
                </a:lnTo>
                <a:close/>
              </a:path>
            </a:pathLst>
          </a:custGeom>
          <a:gradFill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zh-CN" noProof="0" dirty="0"/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0481A1A2-001A-4879-A353-9B84B0BF9B85}"/>
              </a:ext>
            </a:extLst>
          </p:cNvPr>
          <p:cNvSpPr>
            <a:spLocks noGrp="1"/>
          </p:cNvSpPr>
          <p:nvPr/>
        </p:nvSpPr>
        <p:spPr>
          <a:xfrm>
            <a:off x="5086861" y="4928232"/>
            <a:ext cx="4699849" cy="1093321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675"/>
              </a:lnSpc>
              <a:buNone/>
            </a:pPr>
            <a:endParaRPr lang="zh-CN" noProof="0" dirty="0"/>
          </a:p>
        </p:txBody>
      </p:sp>
      <p:sp>
        <p:nvSpPr>
          <p:cNvPr id="38" name="Freeform 38">
            <a:extLst>
              <a:ext uri="{FF2B5EF4-FFF2-40B4-BE49-F238E27FC236}">
                <a16:creationId xmlns:a16="http://schemas.microsoft.com/office/drawing/2014/main" id="{18794406-8066-4229-9719-C9DF15A847F7}"/>
              </a:ext>
            </a:extLst>
          </p:cNvPr>
          <p:cNvSpPr>
            <a:spLocks noGrp="1"/>
          </p:cNvSpPr>
          <p:nvPr/>
        </p:nvSpPr>
        <p:spPr>
          <a:xfrm>
            <a:off x="9981806" y="5418194"/>
            <a:ext cx="4777509" cy="5716013"/>
          </a:xfrm>
          <a:custGeom>
            <a:avLst/>
            <a:gdLst/>
            <a:ahLst/>
            <a:cxnLst/>
            <a:rect l="l" t="t" r="r" b="b"/>
            <a:pathLst>
              <a:path w="959459" h="1147937">
                <a:moveTo>
                  <a:pt x="0" y="0"/>
                </a:moveTo>
                <a:lnTo>
                  <a:pt x="959459" y="0"/>
                </a:lnTo>
                <a:lnTo>
                  <a:pt x="959459" y="1147937"/>
                </a:lnTo>
                <a:lnTo>
                  <a:pt x="0" y="1147937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/>
          <a:lstStyle/>
          <a:p>
            <a:endParaRPr lang="zh-CN" noProof="0" dirty="0"/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F1816C84-D2D7-4EFA-B631-035F620002E6}"/>
              </a:ext>
            </a:extLst>
          </p:cNvPr>
          <p:cNvSpPr>
            <a:spLocks noGrp="1"/>
          </p:cNvSpPr>
          <p:nvPr/>
        </p:nvSpPr>
        <p:spPr>
          <a:xfrm>
            <a:off x="9981806" y="4943909"/>
            <a:ext cx="4777509" cy="6190298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marL="0" indent="0" algn="ctr">
              <a:lnSpc>
                <a:spcPts val="3675"/>
              </a:lnSpc>
              <a:spcBef>
                <a:spcPts val="0"/>
              </a:spcBef>
              <a:buNone/>
            </a:pPr>
            <a:endParaRPr lang="zh-CN" noProof="0" dirty="0"/>
          </a:p>
        </p:txBody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FF36DF97-2A0E-497B-BDB1-ED4B33B5E6FF}"/>
              </a:ext>
            </a:extLst>
          </p:cNvPr>
          <p:cNvSpPr>
            <a:spLocks noGrp="1"/>
          </p:cNvSpPr>
          <p:nvPr/>
        </p:nvSpPr>
        <p:spPr>
          <a:xfrm>
            <a:off x="10397396" y="8503841"/>
            <a:ext cx="3825759" cy="2187175"/>
          </a:xfrm>
          <a:custGeom>
            <a:avLst/>
            <a:gdLst/>
            <a:ahLst/>
            <a:cxnLst/>
            <a:rect l="l" t="t" r="r" b="b"/>
            <a:pathLst>
              <a:path w="3825759" h="2187175">
                <a:moveTo>
                  <a:pt x="0" y="0"/>
                </a:moveTo>
                <a:lnTo>
                  <a:pt x="3825759" y="0"/>
                </a:lnTo>
                <a:lnTo>
                  <a:pt x="3825759" y="2187175"/>
                </a:lnTo>
                <a:lnTo>
                  <a:pt x="0" y="21871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t="9430" b="9430"/>
            <a:stretch>
              <a:fillRect/>
            </a:stretch>
          </a:blipFill>
          <a:ln>
            <a:noFill/>
            <a:prstDash val="solid"/>
          </a:ln>
        </p:spPr>
        <p:txBody>
          <a:bodyPr/>
          <a:lstStyle/>
          <a:p>
            <a:endParaRPr lang="zh-CN" noProof="0" dirty="0"/>
          </a:p>
        </p:txBody>
      </p:sp>
      <p:sp>
        <p:nvSpPr>
          <p:cNvPr id="43" name="Freeform 43">
            <a:extLst>
              <a:ext uri="{FF2B5EF4-FFF2-40B4-BE49-F238E27FC236}">
                <a16:creationId xmlns:a16="http://schemas.microsoft.com/office/drawing/2014/main" id="{A60CC7BA-3463-47B8-9F8B-BEA2429647A1}"/>
              </a:ext>
            </a:extLst>
          </p:cNvPr>
          <p:cNvSpPr>
            <a:spLocks noGrp="1"/>
          </p:cNvSpPr>
          <p:nvPr/>
        </p:nvSpPr>
        <p:spPr>
          <a:xfrm>
            <a:off x="359854" y="11368959"/>
            <a:ext cx="9454013" cy="632625"/>
          </a:xfrm>
          <a:custGeom>
            <a:avLst/>
            <a:gdLst/>
            <a:ahLst/>
            <a:cxnLst/>
            <a:rect l="l" t="t" r="r" b="b"/>
            <a:pathLst>
              <a:path w="1898632" h="127049">
                <a:moveTo>
                  <a:pt x="0" y="0"/>
                </a:moveTo>
                <a:lnTo>
                  <a:pt x="1898632" y="0"/>
                </a:lnTo>
                <a:lnTo>
                  <a:pt x="1898632" y="127049"/>
                </a:lnTo>
                <a:lnTo>
                  <a:pt x="0" y="127049"/>
                </a:lnTo>
                <a:close/>
              </a:path>
            </a:pathLst>
          </a:custGeom>
          <a:gradFill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zh-CN" noProof="0" dirty="0"/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9957FA91-C743-4894-9C85-B8A303996106}"/>
              </a:ext>
            </a:extLst>
          </p:cNvPr>
          <p:cNvSpPr>
            <a:spLocks noGrp="1"/>
          </p:cNvSpPr>
          <p:nvPr/>
        </p:nvSpPr>
        <p:spPr>
          <a:xfrm>
            <a:off x="359854" y="10894674"/>
            <a:ext cx="9454013" cy="1106910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3675"/>
              </a:lnSpc>
              <a:buNone/>
            </a:pPr>
            <a:endParaRPr lang="zh-CN" noProof="0" dirty="0"/>
          </a:p>
        </p:txBody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0315E37B-7912-45EF-B57E-8B303BFA5280}"/>
              </a:ext>
            </a:extLst>
          </p:cNvPr>
          <p:cNvSpPr>
            <a:spLocks noGrp="1"/>
          </p:cNvSpPr>
          <p:nvPr/>
        </p:nvSpPr>
        <p:spPr>
          <a:xfrm>
            <a:off x="752605" y="16242455"/>
            <a:ext cx="362428" cy="3624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zh-CN" noProof="0" dirty="0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3E598588-42F4-4C57-8A3F-CABCB1F79283}"/>
              </a:ext>
            </a:extLst>
          </p:cNvPr>
          <p:cNvSpPr>
            <a:spLocks noGrp="1"/>
          </p:cNvSpPr>
          <p:nvPr/>
        </p:nvSpPr>
        <p:spPr>
          <a:xfrm>
            <a:off x="786582" y="16255196"/>
            <a:ext cx="294472" cy="315708"/>
          </a:xfrm>
          <a:prstGeom prst="rect">
            <a:avLst/>
          </a:prstGeom>
        </p:spPr>
        <p:txBody>
          <a:bodyPr lIns="31579" tIns="31579" rIns="31579" bIns="31579" anchor="ctr"/>
          <a:lstStyle/>
          <a:p>
            <a:pPr algn="ctr">
              <a:lnSpc>
                <a:spcPts val="2940"/>
              </a:lnSpc>
              <a:buNone/>
            </a:pPr>
            <a:endParaRPr lang="zh-CN" noProof="0" dirty="0"/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8B17CA1E-CF01-49CC-955F-47DF2B813D83}"/>
              </a:ext>
            </a:extLst>
          </p:cNvPr>
          <p:cNvSpPr>
            <a:spLocks noGrp="1"/>
          </p:cNvSpPr>
          <p:nvPr/>
        </p:nvSpPr>
        <p:spPr>
          <a:xfrm>
            <a:off x="752605" y="16270325"/>
            <a:ext cx="362428" cy="2852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buNone/>
            </a:pPr>
            <a:r>
              <a:rPr lang="zh-CN" sz="1735" noProof="0" dirty="0">
                <a:solidFill>
                  <a:srgbClr val="FFFFFF"/>
                </a:solidFill>
                <a:latin typeface="字由点字典黑 1 Bold"/>
                <a:ea typeface="字由点字典黑 1 Bold"/>
                <a:cs typeface="字由点字典黑 1 Bold"/>
              </a:rPr>
              <a:t>01</a:t>
            </a:r>
          </a:p>
        </p:txBody>
      </p:sp>
      <p:sp>
        <p:nvSpPr>
          <p:cNvPr id="52" name="Freeform 52">
            <a:extLst>
              <a:ext uri="{FF2B5EF4-FFF2-40B4-BE49-F238E27FC236}">
                <a16:creationId xmlns:a16="http://schemas.microsoft.com/office/drawing/2014/main" id="{2E53A39B-EE17-4E85-B0E5-D2AC14A290ED}"/>
              </a:ext>
            </a:extLst>
          </p:cNvPr>
          <p:cNvSpPr>
            <a:spLocks noGrp="1"/>
          </p:cNvSpPr>
          <p:nvPr/>
        </p:nvSpPr>
        <p:spPr>
          <a:xfrm>
            <a:off x="752605" y="17268694"/>
            <a:ext cx="362428" cy="3624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zh-CN" noProof="0" dirty="0"/>
          </a:p>
        </p:txBody>
      </p:sp>
      <p:sp>
        <p:nvSpPr>
          <p:cNvPr id="53" name="TextBox 53">
            <a:extLst>
              <a:ext uri="{FF2B5EF4-FFF2-40B4-BE49-F238E27FC236}">
                <a16:creationId xmlns:a16="http://schemas.microsoft.com/office/drawing/2014/main" id="{B766752B-C032-450A-9F40-3E94F57654A0}"/>
              </a:ext>
            </a:extLst>
          </p:cNvPr>
          <p:cNvSpPr>
            <a:spLocks noGrp="1"/>
          </p:cNvSpPr>
          <p:nvPr/>
        </p:nvSpPr>
        <p:spPr>
          <a:xfrm>
            <a:off x="786582" y="17281435"/>
            <a:ext cx="294472" cy="315708"/>
          </a:xfrm>
          <a:prstGeom prst="rect">
            <a:avLst/>
          </a:prstGeom>
        </p:spPr>
        <p:txBody>
          <a:bodyPr lIns="31579" tIns="31579" rIns="31579" bIns="31579" anchor="ctr"/>
          <a:lstStyle/>
          <a:p>
            <a:pPr algn="ctr">
              <a:lnSpc>
                <a:spcPts val="2940"/>
              </a:lnSpc>
              <a:buNone/>
            </a:pPr>
            <a:endParaRPr lang="zh-CN" noProof="0" dirty="0"/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1153594D-C69B-4302-8E43-9F7B7BC3FF7B}"/>
              </a:ext>
            </a:extLst>
          </p:cNvPr>
          <p:cNvSpPr>
            <a:spLocks noGrp="1"/>
          </p:cNvSpPr>
          <p:nvPr/>
        </p:nvSpPr>
        <p:spPr>
          <a:xfrm>
            <a:off x="752605" y="17296564"/>
            <a:ext cx="362428" cy="2852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buNone/>
            </a:pPr>
            <a:r>
              <a:rPr lang="zh-CN" sz="1735" noProof="0" dirty="0">
                <a:solidFill>
                  <a:srgbClr val="FFFFFF"/>
                </a:solidFill>
                <a:latin typeface="字由点字典黑 1 Bold"/>
                <a:ea typeface="字由点字典黑 1 Bold"/>
                <a:cs typeface="字由点字典黑 1 Bold"/>
              </a:rPr>
              <a:t>02</a:t>
            </a:r>
          </a:p>
        </p:txBody>
      </p:sp>
      <p:sp>
        <p:nvSpPr>
          <p:cNvPr id="55" name="Freeform 55">
            <a:extLst>
              <a:ext uri="{FF2B5EF4-FFF2-40B4-BE49-F238E27FC236}">
                <a16:creationId xmlns:a16="http://schemas.microsoft.com/office/drawing/2014/main" id="{17E66D1B-532F-4655-924B-F65EF6EECB0D}"/>
              </a:ext>
            </a:extLst>
          </p:cNvPr>
          <p:cNvSpPr>
            <a:spLocks noGrp="1"/>
          </p:cNvSpPr>
          <p:nvPr/>
        </p:nvSpPr>
        <p:spPr>
          <a:xfrm>
            <a:off x="993336" y="12379626"/>
            <a:ext cx="3847928" cy="2563682"/>
          </a:xfrm>
          <a:custGeom>
            <a:avLst/>
            <a:gdLst/>
            <a:ahLst/>
            <a:cxnLst/>
            <a:rect l="l" t="t" r="r" b="b"/>
            <a:pathLst>
              <a:path w="3847928" h="2563682">
                <a:moveTo>
                  <a:pt x="0" y="0"/>
                </a:moveTo>
                <a:lnTo>
                  <a:pt x="3847928" y="0"/>
                </a:lnTo>
                <a:lnTo>
                  <a:pt x="3847928" y="2563682"/>
                </a:lnTo>
                <a:lnTo>
                  <a:pt x="0" y="2563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t="11070" b="11070"/>
            <a:stretch>
              <a:fillRect/>
            </a:stretch>
          </a:blipFill>
        </p:spPr>
        <p:txBody>
          <a:bodyPr/>
          <a:lstStyle/>
          <a:p>
            <a:endParaRPr lang="zh-CN" noProof="0" dirty="0"/>
          </a:p>
        </p:txBody>
      </p:sp>
      <p:sp>
        <p:nvSpPr>
          <p:cNvPr id="58" name="Freeform 58">
            <a:extLst>
              <a:ext uri="{FF2B5EF4-FFF2-40B4-BE49-F238E27FC236}">
                <a16:creationId xmlns:a16="http://schemas.microsoft.com/office/drawing/2014/main" id="{B4136903-DC58-465F-8D6B-3F87FA0B628C}"/>
              </a:ext>
            </a:extLst>
          </p:cNvPr>
          <p:cNvSpPr>
            <a:spLocks noGrp="1"/>
          </p:cNvSpPr>
          <p:nvPr/>
        </p:nvSpPr>
        <p:spPr>
          <a:xfrm>
            <a:off x="752605" y="18482658"/>
            <a:ext cx="362428" cy="3624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zh-CN" noProof="0" dirty="0"/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6F2A6424-E31E-4281-823D-6C58C9ABD91E}"/>
              </a:ext>
            </a:extLst>
          </p:cNvPr>
          <p:cNvSpPr>
            <a:spLocks noGrp="1"/>
          </p:cNvSpPr>
          <p:nvPr/>
        </p:nvSpPr>
        <p:spPr>
          <a:xfrm>
            <a:off x="786582" y="18495399"/>
            <a:ext cx="294472" cy="315708"/>
          </a:xfrm>
          <a:prstGeom prst="rect">
            <a:avLst/>
          </a:prstGeom>
        </p:spPr>
        <p:txBody>
          <a:bodyPr lIns="31579" tIns="31579" rIns="31579" bIns="31579" anchor="ctr"/>
          <a:lstStyle/>
          <a:p>
            <a:pPr algn="ctr">
              <a:lnSpc>
                <a:spcPts val="2940"/>
              </a:lnSpc>
              <a:buNone/>
            </a:pPr>
            <a:endParaRPr lang="zh-CN" noProof="0" dirty="0"/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1404A4C9-1239-4174-9AC6-20A753DC779B}"/>
              </a:ext>
            </a:extLst>
          </p:cNvPr>
          <p:cNvSpPr>
            <a:spLocks noGrp="1"/>
          </p:cNvSpPr>
          <p:nvPr/>
        </p:nvSpPr>
        <p:spPr>
          <a:xfrm>
            <a:off x="752605" y="18510528"/>
            <a:ext cx="362428" cy="2852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buNone/>
            </a:pPr>
            <a:r>
              <a:rPr lang="zh-CN" sz="1735" noProof="0" dirty="0">
                <a:solidFill>
                  <a:srgbClr val="FFFFFF"/>
                </a:solidFill>
                <a:latin typeface="字由点字典黑 1 Bold"/>
                <a:ea typeface="字由点字典黑 1 Bold"/>
                <a:cs typeface="字由点字典黑 1 Bold"/>
              </a:rPr>
              <a:t>01</a:t>
            </a:r>
          </a:p>
        </p:txBody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630411C8-C6FB-46DD-B538-9E8DBAE75313}"/>
              </a:ext>
            </a:extLst>
          </p:cNvPr>
          <p:cNvSpPr>
            <a:spLocks noGrp="1"/>
          </p:cNvSpPr>
          <p:nvPr/>
        </p:nvSpPr>
        <p:spPr>
          <a:xfrm>
            <a:off x="752605" y="19359436"/>
            <a:ext cx="362428" cy="36242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gradFill rotWithShape="1">
            <a:gsLst>
              <a:gs pos="0">
                <a:srgbClr val="015ECE">
                  <a:alpha val="100000"/>
                </a:srgbClr>
              </a:gs>
              <a:gs pos="50000">
                <a:srgbClr val="0059AC">
                  <a:alpha val="100000"/>
                </a:srgbClr>
              </a:gs>
              <a:gs pos="100000">
                <a:srgbClr val="0E314E">
                  <a:alpha val="100000"/>
                </a:srgbClr>
              </a:gs>
            </a:gsLst>
            <a:lin ang="0"/>
          </a:gradFill>
        </p:spPr>
        <p:txBody>
          <a:bodyPr/>
          <a:lstStyle/>
          <a:p>
            <a:endParaRPr lang="zh-CN" noProof="0" dirty="0"/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CB163612-7BA2-4465-BA08-65823CED02AA}"/>
              </a:ext>
            </a:extLst>
          </p:cNvPr>
          <p:cNvSpPr>
            <a:spLocks noGrp="1"/>
          </p:cNvSpPr>
          <p:nvPr/>
        </p:nvSpPr>
        <p:spPr>
          <a:xfrm>
            <a:off x="786582" y="19372177"/>
            <a:ext cx="294472" cy="315708"/>
          </a:xfrm>
          <a:prstGeom prst="rect">
            <a:avLst/>
          </a:prstGeom>
        </p:spPr>
        <p:txBody>
          <a:bodyPr lIns="31579" tIns="31579" rIns="31579" bIns="31579" anchor="ctr"/>
          <a:lstStyle/>
          <a:p>
            <a:pPr algn="ctr">
              <a:lnSpc>
                <a:spcPts val="2940"/>
              </a:lnSpc>
              <a:buNone/>
            </a:pPr>
            <a:endParaRPr lang="zh-CN" noProof="0" dirty="0"/>
          </a:p>
        </p:txBody>
      </p:sp>
      <p:sp>
        <p:nvSpPr>
          <p:cNvPr id="65" name="TextBox 65">
            <a:extLst>
              <a:ext uri="{FF2B5EF4-FFF2-40B4-BE49-F238E27FC236}">
                <a16:creationId xmlns:a16="http://schemas.microsoft.com/office/drawing/2014/main" id="{54C8816A-554E-4AE8-AE4E-EA7944CA20E3}"/>
              </a:ext>
            </a:extLst>
          </p:cNvPr>
          <p:cNvSpPr>
            <a:spLocks noGrp="1"/>
          </p:cNvSpPr>
          <p:nvPr/>
        </p:nvSpPr>
        <p:spPr>
          <a:xfrm>
            <a:off x="752605" y="19387306"/>
            <a:ext cx="362428" cy="28525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buNone/>
            </a:pPr>
            <a:r>
              <a:rPr lang="zh-CN" sz="1735" noProof="0" dirty="0">
                <a:solidFill>
                  <a:srgbClr val="FFFFFF"/>
                </a:solidFill>
                <a:latin typeface="字由点字典黑 1 Bold"/>
                <a:ea typeface="字由点字典黑 1 Bold"/>
                <a:cs typeface="字由点字典黑 1 Bold"/>
              </a:rPr>
              <a:t>02</a:t>
            </a:r>
          </a:p>
        </p:txBody>
      </p:sp>
      <p:sp>
        <p:nvSpPr>
          <p:cNvPr id="66" name="TextBox 66">
            <a:extLst>
              <a:ext uri="{FF2B5EF4-FFF2-40B4-BE49-F238E27FC236}">
                <a16:creationId xmlns:a16="http://schemas.microsoft.com/office/drawing/2014/main" id="{83D02E4E-FEC0-4334-BC87-69BE577BC4D9}"/>
              </a:ext>
            </a:extLst>
          </p:cNvPr>
          <p:cNvSpPr>
            <a:spLocks noGrp="1"/>
          </p:cNvSpPr>
          <p:nvPr/>
        </p:nvSpPr>
        <p:spPr>
          <a:xfrm>
            <a:off x="380050" y="943675"/>
            <a:ext cx="9433817" cy="87761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000"/>
              </a:lnSpc>
              <a:buNone/>
            </a:pPr>
            <a:r>
              <a:rPr lang="zh-CN" sz="5000" b="1" noProof="0" dirty="0">
                <a:solidFill>
                  <a:srgbClr val="FFFFFF"/>
                </a:solidFill>
                <a:latin typeface="+mj-ea"/>
                <a:ea typeface="+mj-ea"/>
                <a:cs typeface="阿里巴巴普惠体 Medium"/>
              </a:rPr>
              <a:t>新编旦:TREE 教材重构增强引擎</a:t>
            </a: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FCCE231B-1978-4F80-92BB-D62CCD361AAF}"/>
              </a:ext>
            </a:extLst>
          </p:cNvPr>
          <p:cNvSpPr>
            <a:spLocks noGrp="1"/>
          </p:cNvSpPr>
          <p:nvPr/>
        </p:nvSpPr>
        <p:spPr>
          <a:xfrm>
            <a:off x="10175091" y="12084189"/>
            <a:ext cx="4048064" cy="34671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zh-CN" altLang="en-US" b="1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总结</a:t>
            </a:r>
          </a:p>
        </p:txBody>
      </p:sp>
      <p:sp>
        <p:nvSpPr>
          <p:cNvPr id="70" name="TextBox 70">
            <a:extLst>
              <a:ext uri="{FF2B5EF4-FFF2-40B4-BE49-F238E27FC236}">
                <a16:creationId xmlns:a16="http://schemas.microsoft.com/office/drawing/2014/main" id="{7E746001-9AA5-4469-9343-781E1445120A}"/>
              </a:ext>
            </a:extLst>
          </p:cNvPr>
          <p:cNvSpPr>
            <a:spLocks noGrp="1"/>
          </p:cNvSpPr>
          <p:nvPr/>
        </p:nvSpPr>
        <p:spPr>
          <a:xfrm>
            <a:off x="10175091" y="12488049"/>
            <a:ext cx="4410690" cy="195919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240"/>
              </a:lnSpc>
            </a:pPr>
            <a:r>
              <a:rPr lang="en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TREE 是面向课程资料重构与持续学习的桌面工作台。PDF、课件、Word、图片等材料经过解析/OCR、清洗、语义切分、向量索引、知识点聚类、先修依赖建图和多 Agent 生成，最终形成可交互的知识果树与逐节点 Markdown 学习文件。学习者可以依据知识依赖选择阅读节点、记录学习进度，并通过反馈让 Writer 定向修订内容。</a:t>
            </a:r>
            <a:endParaRPr lang="zh-CN" altLang="en-US" sz="1600" dirty="0">
              <a:solidFill>
                <a:srgbClr val="000000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71" name="TextBox 71">
            <a:extLst>
              <a:ext uri="{FF2B5EF4-FFF2-40B4-BE49-F238E27FC236}">
                <a16:creationId xmlns:a16="http://schemas.microsoft.com/office/drawing/2014/main" id="{CE0C67FE-8471-4532-9117-257AB5C1A2A2}"/>
              </a:ext>
            </a:extLst>
          </p:cNvPr>
          <p:cNvSpPr>
            <a:spLocks noGrp="1"/>
          </p:cNvSpPr>
          <p:nvPr/>
        </p:nvSpPr>
        <p:spPr>
          <a:xfrm>
            <a:off x="631469" y="20602123"/>
            <a:ext cx="7086067" cy="34740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zh-CN" sz="2000" b="1" noProof="0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1"/>
              </a:rPr>
              <a:t>GitHub：</a:t>
            </a:r>
            <a:r>
              <a:rPr lang="en-US" altLang="zh-CN" sz="20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1"/>
              </a:rPr>
              <a:t>https://</a:t>
            </a:r>
            <a:r>
              <a:rPr lang="en-US" altLang="zh-CN" sz="2000" b="1" dirty="0" err="1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1"/>
              </a:rPr>
              <a:t>github.com</a:t>
            </a:r>
            <a:r>
              <a:rPr lang="en-US" altLang="zh-CN" sz="20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1"/>
              </a:rPr>
              <a:t>/Waylon524/tree</a:t>
            </a:r>
            <a:endParaRPr lang="zh-CN" sz="2000" b="1" noProof="0" dirty="0">
              <a:solidFill>
                <a:srgbClr val="FFFFFF"/>
              </a:solidFill>
              <a:latin typeface="DengXian" panose="02010600030101010101" pitchFamily="2" charset="-122"/>
              <a:ea typeface="DengXian" panose="02010600030101010101" pitchFamily="2" charset="-122"/>
              <a:cs typeface="字由点字典黑 1"/>
            </a:endParaRPr>
          </a:p>
        </p:txBody>
      </p:sp>
      <p:sp>
        <p:nvSpPr>
          <p:cNvPr id="72" name="TextBox 72">
            <a:extLst>
              <a:ext uri="{FF2B5EF4-FFF2-40B4-BE49-F238E27FC236}">
                <a16:creationId xmlns:a16="http://schemas.microsoft.com/office/drawing/2014/main" id="{FB2FCD44-5674-486E-9B4C-29CB2418F6F4}"/>
              </a:ext>
            </a:extLst>
          </p:cNvPr>
          <p:cNvSpPr>
            <a:spLocks noGrp="1"/>
          </p:cNvSpPr>
          <p:nvPr/>
        </p:nvSpPr>
        <p:spPr>
          <a:xfrm>
            <a:off x="555520" y="2789188"/>
            <a:ext cx="5710202" cy="43578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algn="l">
              <a:lnSpc>
                <a:spcPts val="3675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项目简介 </a:t>
            </a:r>
            <a:r>
              <a:rPr lang="en-US" altLang="zh-CN" sz="24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Abstract</a:t>
            </a:r>
          </a:p>
        </p:txBody>
      </p:sp>
      <p:sp>
        <p:nvSpPr>
          <p:cNvPr id="73" name="TextBox 73">
            <a:extLst>
              <a:ext uri="{FF2B5EF4-FFF2-40B4-BE49-F238E27FC236}">
                <a16:creationId xmlns:a16="http://schemas.microsoft.com/office/drawing/2014/main" id="{AE682160-F081-4577-94B3-F5A9F4117F16}"/>
              </a:ext>
            </a:extLst>
          </p:cNvPr>
          <p:cNvSpPr>
            <a:spLocks noGrp="1"/>
          </p:cNvSpPr>
          <p:nvPr/>
        </p:nvSpPr>
        <p:spPr>
          <a:xfrm>
            <a:off x="555520" y="3476944"/>
            <a:ext cx="13943760" cy="145584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>
              <a:lnSpc>
                <a:spcPts val="2320"/>
              </a:lnSpc>
            </a:pPr>
            <a:r>
              <a:rPr lang="en-CN" sz="1600" dirty="0">
                <a:latin typeface="DengXian" panose="02010600030101010101" pitchFamily="2" charset="-122"/>
                <a:ea typeface="DengXian" panose="02010600030101010101" pitchFamily="2" charset="-122"/>
              </a:rPr>
              <a:t>TREE 把学习资料想象成一座可以持续生长的果园：每门课程是一棵果树，PDF、课件、Word 和图片则是等待播种的种子。材料进入果园后，系统先通过文档解析与 OCR 完成“采集”，再“筛净”页眉页脚、乱码和重复内容；随后将长篇文本“分种”为可独立理解的语义单元，并通过向量索引完成“播种”。</a:t>
            </a:r>
          </a:p>
          <a:p>
            <a:pPr>
              <a:lnSpc>
                <a:spcPts val="2320"/>
              </a:lnSpc>
            </a:pPr>
            <a:r>
              <a:rPr lang="en-CN" sz="1600" dirty="0">
                <a:latin typeface="DengXian" panose="02010600030101010101" pitchFamily="2" charset="-122"/>
                <a:ea typeface="DengXian" panose="02010600030101010101" pitchFamily="2" charset="-122"/>
              </a:rPr>
              <a:t>相关内容会进一步“发芽”，聚合为一个个知识节点；节点之间“生枝”，形成“先理解什么、再学习什么”的先修关系。最后，多个 Agent 围绕知识节点进行提问、学习模拟、审核与写作，“结出”可阅读、可反馈修订的 Markdown 学习文件。</a:t>
            </a:r>
          </a:p>
          <a:p>
            <a:pPr>
              <a:lnSpc>
                <a:spcPts val="2320"/>
              </a:lnSpc>
            </a:pPr>
            <a:r>
              <a:rPr lang="en-CN" sz="1600" dirty="0">
                <a:latin typeface="DengXian" panose="02010600030101010101" pitchFamily="2" charset="-122"/>
                <a:ea typeface="DengXian" panose="02010600030101010101" pitchFamily="2" charset="-122"/>
              </a:rPr>
              <a:t>TREE 希望把一次性的资料整理变成持续种植、修剪和收获的学习过程，让零散材料逐渐成长为结构清晰、能够陪伴学习者不断完善的知识果树。</a:t>
            </a:r>
          </a:p>
        </p:txBody>
      </p:sp>
      <p:sp>
        <p:nvSpPr>
          <p:cNvPr id="75" name="TextBox 75">
            <a:extLst>
              <a:ext uri="{FF2B5EF4-FFF2-40B4-BE49-F238E27FC236}">
                <a16:creationId xmlns:a16="http://schemas.microsoft.com/office/drawing/2014/main" id="{72B6639E-467A-41AA-A80E-BE655298441D}"/>
              </a:ext>
            </a:extLst>
          </p:cNvPr>
          <p:cNvSpPr>
            <a:spLocks noGrp="1"/>
          </p:cNvSpPr>
          <p:nvPr/>
        </p:nvSpPr>
        <p:spPr>
          <a:xfrm>
            <a:off x="484545" y="6131091"/>
            <a:ext cx="4240621" cy="3405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algn="l">
              <a:lnSpc>
                <a:spcPts val="2880"/>
              </a:lnSpc>
              <a:buNone/>
            </a:pPr>
            <a:r>
              <a:rPr lang="zh-CN" sz="1800" b="1" noProof="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2 Bold"/>
              </a:rPr>
              <a:t>选题背景及意义</a:t>
            </a:r>
          </a:p>
        </p:txBody>
      </p:sp>
      <p:sp>
        <p:nvSpPr>
          <p:cNvPr id="76" name="TextBox 76">
            <a:extLst>
              <a:ext uri="{FF2B5EF4-FFF2-40B4-BE49-F238E27FC236}">
                <a16:creationId xmlns:a16="http://schemas.microsoft.com/office/drawing/2014/main" id="{EE93175D-9737-403D-AB0B-53949546E237}"/>
              </a:ext>
            </a:extLst>
          </p:cNvPr>
          <p:cNvSpPr>
            <a:spLocks noGrp="1"/>
          </p:cNvSpPr>
          <p:nvPr/>
        </p:nvSpPr>
        <p:spPr>
          <a:xfrm>
            <a:off x="484545" y="6632517"/>
            <a:ext cx="4240621" cy="111280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教材资料格式分散，扫描件常含版面噪声；传统摘要也无法表达先修关系。
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TREE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把材料、知识图谱和阅读进度统一管理，使生成可续跑、可检查、可修订。</a:t>
            </a:r>
          </a:p>
        </p:txBody>
      </p:sp>
      <p:sp>
        <p:nvSpPr>
          <p:cNvPr id="77" name="TextBox 77">
            <a:extLst>
              <a:ext uri="{FF2B5EF4-FFF2-40B4-BE49-F238E27FC236}">
                <a16:creationId xmlns:a16="http://schemas.microsoft.com/office/drawing/2014/main" id="{5C46C9DC-BBD3-4F72-881C-CCFCF1A8B328}"/>
              </a:ext>
            </a:extLst>
          </p:cNvPr>
          <p:cNvSpPr>
            <a:spLocks noGrp="1"/>
          </p:cNvSpPr>
          <p:nvPr/>
        </p:nvSpPr>
        <p:spPr>
          <a:xfrm>
            <a:off x="5614106" y="15041890"/>
            <a:ext cx="3366019" cy="26642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zh-CN" sz="1600" noProof="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2 Light"/>
              </a:rPr>
              <a:t>79 份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知识点学习文件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65472CF8-D02A-4824-B767-053436461CC1}"/>
              </a:ext>
            </a:extLst>
          </p:cNvPr>
          <p:cNvSpPr>
            <a:spLocks noGrp="1"/>
          </p:cNvSpPr>
          <p:nvPr/>
        </p:nvSpPr>
        <p:spPr>
          <a:xfrm>
            <a:off x="484545" y="8290661"/>
            <a:ext cx="4170620" cy="34060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zh-CN" altLang="en-US" b="1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应用场景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5D71F914-9B4D-4D33-8251-A1F44B38088F}"/>
              </a:ext>
            </a:extLst>
          </p:cNvPr>
          <p:cNvSpPr>
            <a:spLocks noGrp="1"/>
          </p:cNvSpPr>
          <p:nvPr/>
        </p:nvSpPr>
        <p:spPr>
          <a:xfrm>
            <a:off x="484544" y="8778116"/>
            <a:ext cx="4240621" cy="139493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面向学生、教师和课程资料整理者。
适用于教材章节拆解、多份讲义合并、考试复习资料重构，以及扫描课件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OCR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后结构化学习。
知识果树按先修关系推荐入口但不强制顺序；项目可导出为，在另一台设备继续生成和阅读。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650689AD-F5F8-4104-BF6D-7C1DB675A22C}"/>
              </a:ext>
            </a:extLst>
          </p:cNvPr>
          <p:cNvSpPr>
            <a:spLocks noGrp="1"/>
          </p:cNvSpPr>
          <p:nvPr/>
        </p:nvSpPr>
        <p:spPr>
          <a:xfrm>
            <a:off x="380050" y="398085"/>
            <a:ext cx="10971087" cy="38997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200"/>
              </a:lnSpc>
              <a:buNone/>
            </a:pPr>
            <a:r>
              <a:rPr lang="zh-CN" sz="2400" b="1" i="1" noProof="0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2 Medium Italics"/>
              </a:rPr>
              <a:t>复旦大学“未来智造（AI Agent）工程师训练营”结题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300A0576-148B-4806-9EBE-B915CC77294B}"/>
              </a:ext>
            </a:extLst>
          </p:cNvPr>
          <p:cNvSpPr>
            <a:spLocks noGrp="1"/>
          </p:cNvSpPr>
          <p:nvPr/>
        </p:nvSpPr>
        <p:spPr>
          <a:xfrm>
            <a:off x="5230470" y="6131091"/>
            <a:ext cx="4412630" cy="34285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zh-CN" altLang="en-US" b="1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数据来源</a:t>
            </a: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1ECB659C-E9E6-4B9E-815B-0C292126310C}"/>
              </a:ext>
            </a:extLst>
          </p:cNvPr>
          <p:cNvSpPr>
            <a:spLocks noGrp="1"/>
          </p:cNvSpPr>
          <p:nvPr/>
        </p:nvSpPr>
        <p:spPr>
          <a:xfrm>
            <a:off x="5230470" y="6633184"/>
            <a:ext cx="4424234" cy="138281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输入支持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PDF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PPTX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Word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Markdown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、文本和图片。
文本型资料直接解析，扫描件按需调用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PaddleOCR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；清洗后切成可教学语义单元。</a:t>
            </a:r>
            <a:r>
              <a:rPr lang="zh-CN" sz="1400" noProof="0" dirty="0">
                <a:solidFill>
                  <a:srgbClr val="000000"/>
                </a:solidFill>
                <a:latin typeface="字由点字典黑 2 Light"/>
                <a:ea typeface="字由点字典黑 2 Light"/>
                <a:cs typeface="字由点字典黑 2 Light"/>
              </a:rPr>
              <a:t>
</a:t>
            </a:r>
          </a:p>
        </p:txBody>
      </p:sp>
      <p:sp>
        <p:nvSpPr>
          <p:cNvPr id="86" name="TextBox 86">
            <a:extLst>
              <a:ext uri="{FF2B5EF4-FFF2-40B4-BE49-F238E27FC236}">
                <a16:creationId xmlns:a16="http://schemas.microsoft.com/office/drawing/2014/main" id="{939282EA-C9E7-4E43-A70B-C107284CB581}"/>
              </a:ext>
            </a:extLst>
          </p:cNvPr>
          <p:cNvSpPr>
            <a:spLocks noGrp="1"/>
          </p:cNvSpPr>
          <p:nvPr/>
        </p:nvSpPr>
        <p:spPr>
          <a:xfrm>
            <a:off x="5230470" y="8274985"/>
            <a:ext cx="4412630" cy="34285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zh-CN" altLang="en-US" b="1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研究工具</a:t>
            </a: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E0B26D1A-AF49-4F26-B0B5-C0DE613542B6}"/>
              </a:ext>
            </a:extLst>
          </p:cNvPr>
          <p:cNvSpPr>
            <a:spLocks noGrp="1"/>
          </p:cNvSpPr>
          <p:nvPr/>
        </p:nvSpPr>
        <p:spPr>
          <a:xfrm>
            <a:off x="5230470" y="8775827"/>
            <a:ext cx="4412630" cy="195919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桌面端：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Tauri + TypeScript/React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，统一承载项目、配置、运行和阅读界面。
引擎端：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Python + FastAPI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；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llama.cpp/Qwen3 Embedding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建立本地向量索引。
模型端：兼容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OpenAI Chat API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；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Examiner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Student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Writer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Archivist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Dagger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分工完成审核、生成、归档与图谱修复。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E56E04AE-1DE1-4890-BFED-3FFF3CD7AD9F}"/>
              </a:ext>
            </a:extLst>
          </p:cNvPr>
          <p:cNvSpPr>
            <a:spLocks noGrp="1"/>
          </p:cNvSpPr>
          <p:nvPr/>
        </p:nvSpPr>
        <p:spPr>
          <a:xfrm>
            <a:off x="484545" y="5454357"/>
            <a:ext cx="4170620" cy="43578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algn="l">
              <a:lnSpc>
                <a:spcPts val="3675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引言 </a:t>
            </a:r>
            <a:r>
              <a:rPr lang="en-US" altLang="zh-CN" sz="24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Introduction</a:t>
            </a: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D0B6B202-B806-46B8-9952-B8DAEA5DC807}"/>
              </a:ext>
            </a:extLst>
          </p:cNvPr>
          <p:cNvSpPr>
            <a:spLocks noGrp="1"/>
          </p:cNvSpPr>
          <p:nvPr/>
        </p:nvSpPr>
        <p:spPr>
          <a:xfrm>
            <a:off x="5211806" y="5446519"/>
            <a:ext cx="4170620" cy="43578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algn="l">
              <a:lnSpc>
                <a:spcPts val="3675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工具 </a:t>
            </a:r>
            <a:r>
              <a:rPr lang="en-US" altLang="zh-CN" sz="24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Tools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D89F28D5-B64C-4FBD-B1EF-35E85B03C9E4}"/>
              </a:ext>
            </a:extLst>
          </p:cNvPr>
          <p:cNvSpPr>
            <a:spLocks noGrp="1"/>
          </p:cNvSpPr>
          <p:nvPr/>
        </p:nvSpPr>
        <p:spPr>
          <a:xfrm>
            <a:off x="10175091" y="11419755"/>
            <a:ext cx="4410690" cy="43578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>
              <a:lnSpc>
                <a:spcPts val="3675"/>
              </a:lnSpc>
            </a:pPr>
            <a:r>
              <a:rPr lang="zh-CN" altLang="en-US" sz="24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总结 </a:t>
            </a:r>
            <a:r>
              <a:rPr lang="en-US" altLang="zh-CN" sz="24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Conclusion</a:t>
            </a:r>
            <a:endParaRPr lang="zh-CN" altLang="en-US" sz="2400" b="1" dirty="0">
              <a:solidFill>
                <a:srgbClr val="FFFFFF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C0BE3EE8-76D4-4666-A3BA-9749041847CA}"/>
              </a:ext>
            </a:extLst>
          </p:cNvPr>
          <p:cNvSpPr>
            <a:spLocks noGrp="1"/>
          </p:cNvSpPr>
          <p:nvPr/>
        </p:nvSpPr>
        <p:spPr>
          <a:xfrm>
            <a:off x="10516113" y="8126647"/>
            <a:ext cx="3366019" cy="26642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知识果树：先修关系与推荐阅读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7D563282-57E0-4423-B34B-E75C912A133B}"/>
              </a:ext>
            </a:extLst>
          </p:cNvPr>
          <p:cNvSpPr>
            <a:spLocks noGrp="1"/>
          </p:cNvSpPr>
          <p:nvPr/>
        </p:nvSpPr>
        <p:spPr>
          <a:xfrm>
            <a:off x="10557534" y="10772922"/>
            <a:ext cx="3366019" cy="26642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240"/>
              </a:lnSpc>
              <a:buNone/>
            </a:pP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Reader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：节点学习与反馈微调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92EFA564-2EA3-46AF-8A61-CA11DC030654}"/>
              </a:ext>
            </a:extLst>
          </p:cNvPr>
          <p:cNvSpPr>
            <a:spLocks noGrp="1"/>
          </p:cNvSpPr>
          <p:nvPr/>
        </p:nvSpPr>
        <p:spPr>
          <a:xfrm>
            <a:off x="555520" y="11432451"/>
            <a:ext cx="8481153" cy="43578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algn="l">
              <a:lnSpc>
                <a:spcPts val="3675"/>
              </a:lnSpc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研究方法与实验 </a:t>
            </a:r>
            <a:r>
              <a:rPr lang="en-US" altLang="zh-CN" sz="2400" b="1" dirty="0">
                <a:solidFill>
                  <a:srgbClr val="FFFFFF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Methods &amp; Experiments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342A8009-C23B-45B7-A720-9EFA47BFA099}"/>
              </a:ext>
            </a:extLst>
          </p:cNvPr>
          <p:cNvSpPr>
            <a:spLocks noGrp="1"/>
          </p:cNvSpPr>
          <p:nvPr/>
        </p:nvSpPr>
        <p:spPr>
          <a:xfrm>
            <a:off x="1262981" y="16131395"/>
            <a:ext cx="8361455" cy="111152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>
              <a:lnSpc>
                <a:spcPts val="2240"/>
              </a:lnSpc>
              <a:buNone/>
            </a:pPr>
            <a:r>
              <a:rPr lang="en-US" sz="1600" dirty="0" err="1">
                <a:latin typeface="DengXian" panose="02010600030101010101" pitchFamily="2" charset="-122"/>
                <a:ea typeface="DengXian" panose="02010600030101010101" pitchFamily="2" charset="-122"/>
              </a:rPr>
              <a:t>七阶段流水线</a:t>
            </a:r>
            <a:r>
              <a:rPr lang="zh-CN" altLang="en-US" sz="1600" dirty="0">
                <a:latin typeface="DengXian" panose="02010600030101010101" pitchFamily="2" charset="-122"/>
                <a:ea typeface="DengXian" panose="02010600030101010101" pitchFamily="2" charset="-122"/>
              </a:rPr>
              <a:t>：</a:t>
            </a:r>
            <a:r>
              <a:rPr lang="en-CN" sz="1600" dirty="0">
                <a:latin typeface="DengXian" panose="02010600030101010101" pitchFamily="2" charset="-122"/>
                <a:ea typeface="DengXian" panose="02010600030101010101" pitchFamily="2" charset="-122"/>
              </a:rPr>
              <a:t>采集：OCR 解析文档内容</a:t>
            </a:r>
            <a:r>
              <a:rPr lang="zh-CN" altLang="en-US" sz="1600" dirty="0">
                <a:latin typeface="DengXian" panose="02010600030101010101" pitchFamily="2" charset="-122"/>
                <a:ea typeface="DengXian" panose="02010600030101010101" pitchFamily="2" charset="-122"/>
              </a:rPr>
              <a:t>；</a:t>
            </a:r>
            <a:r>
              <a:rPr lang="en-CN" sz="1600" dirty="0">
                <a:latin typeface="DengXian" panose="02010600030101010101" pitchFamily="2" charset="-122"/>
                <a:ea typeface="DengXian" panose="02010600030101010101" pitchFamily="2" charset="-122"/>
              </a:rPr>
              <a:t>筛净：清洗识别噪声，保留有效教学内容</a:t>
            </a:r>
            <a:r>
              <a:rPr lang="zh-CN" altLang="en-US" sz="1600" dirty="0">
                <a:latin typeface="DengXian" panose="02010600030101010101" pitchFamily="2" charset="-122"/>
                <a:ea typeface="DengXian" panose="02010600030101010101" pitchFamily="2" charset="-122"/>
              </a:rPr>
              <a:t>；</a:t>
            </a:r>
            <a:r>
              <a:rPr lang="en-CN" sz="1600" dirty="0">
                <a:latin typeface="DengXian" panose="02010600030101010101" pitchFamily="2" charset="-122"/>
                <a:ea typeface="DengXian" panose="02010600030101010101" pitchFamily="2" charset="-122"/>
              </a:rPr>
              <a:t>分种：将清洗后的文本切分为可教学的语义单元</a:t>
            </a:r>
            <a:r>
              <a:rPr lang="zh-CN" altLang="en-US" sz="1600" dirty="0">
                <a:latin typeface="DengXian" panose="02010600030101010101" pitchFamily="2" charset="-122"/>
                <a:ea typeface="DengXian" panose="02010600030101010101" pitchFamily="2" charset="-122"/>
              </a:rPr>
              <a:t>；</a:t>
            </a:r>
            <a:r>
              <a:rPr lang="en-CN" sz="1600" dirty="0">
                <a:latin typeface="DengXian" panose="02010600030101010101" pitchFamily="2" charset="-122"/>
                <a:ea typeface="DengXian" panose="02010600030101010101" pitchFamily="2" charset="-122"/>
              </a:rPr>
              <a:t>播种：生成语义向量并写入 RAG 索引</a:t>
            </a:r>
            <a:r>
              <a:rPr lang="zh-CN" altLang="en-US" sz="1600" dirty="0">
                <a:latin typeface="DengXian" panose="02010600030101010101" pitchFamily="2" charset="-122"/>
                <a:ea typeface="DengXian" panose="02010600030101010101" pitchFamily="2" charset="-122"/>
              </a:rPr>
              <a:t>；</a:t>
            </a:r>
            <a:r>
              <a:rPr lang="en-CN" sz="1600" dirty="0">
                <a:latin typeface="DengXian" panose="02010600030101010101" pitchFamily="2" charset="-122"/>
                <a:ea typeface="DengXian" panose="02010600030101010101" pitchFamily="2" charset="-122"/>
              </a:rPr>
              <a:t>发芽：将相关语义单元聚合为知识节点</a:t>
            </a:r>
            <a:r>
              <a:rPr lang="zh-CN" altLang="en-US" sz="1600" dirty="0">
                <a:latin typeface="DengXian" panose="02010600030101010101" pitchFamily="2" charset="-122"/>
                <a:ea typeface="DengXian" panose="02010600030101010101" pitchFamily="2" charset="-122"/>
              </a:rPr>
              <a:t>；</a:t>
            </a:r>
            <a:r>
              <a:rPr lang="en-CN" sz="1600" dirty="0">
                <a:latin typeface="DengXian" panose="02010600030101010101" pitchFamily="2" charset="-122"/>
                <a:ea typeface="DengXian" panose="02010600030101010101" pitchFamily="2" charset="-122"/>
              </a:rPr>
              <a:t>生枝：建立知识节点之间的先修依赖关系</a:t>
            </a:r>
            <a:r>
              <a:rPr lang="zh-CN" altLang="en-US" sz="1600" dirty="0">
                <a:latin typeface="DengXian" panose="02010600030101010101" pitchFamily="2" charset="-122"/>
                <a:ea typeface="DengXian" panose="02010600030101010101" pitchFamily="2" charset="-122"/>
              </a:rPr>
              <a:t>；</a:t>
            </a:r>
            <a:r>
              <a:rPr lang="en-CN" sz="1600" dirty="0">
                <a:latin typeface="DengXian" panose="02010600030101010101" pitchFamily="2" charset="-122"/>
                <a:ea typeface="DengXian" panose="02010600030101010101" pitchFamily="2" charset="-122"/>
              </a:rPr>
              <a:t>结果：多 Agent 为每个知识节点生成 Markdown 学习文件。</a:t>
            </a:r>
            <a:endParaRPr lang="zh-CN" altLang="en-US" sz="1600" dirty="0">
              <a:solidFill>
                <a:srgbClr val="000000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5" name="TextBox 95">
            <a:extLst>
              <a:ext uri="{FF2B5EF4-FFF2-40B4-BE49-F238E27FC236}">
                <a16:creationId xmlns:a16="http://schemas.microsoft.com/office/drawing/2014/main" id="{DB353412-2AB3-44EA-A62A-FFB998DAD5E8}"/>
              </a:ext>
            </a:extLst>
          </p:cNvPr>
          <p:cNvSpPr>
            <a:spLocks noGrp="1"/>
          </p:cNvSpPr>
          <p:nvPr/>
        </p:nvSpPr>
        <p:spPr>
          <a:xfrm>
            <a:off x="1262981" y="17287856"/>
            <a:ext cx="7884809" cy="54854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>
              <a:lnSpc>
                <a:spcPts val="224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多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Agent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分工：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Examiner/Student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找缺口，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Writer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生成或反馈修订，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Archivist/Dagger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管理证据和图谱；节点原子写入，失败不覆盖成果，运行可恢复。</a:t>
            </a: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63789BA3-E508-415A-BE13-ADCFACA4349B}"/>
              </a:ext>
            </a:extLst>
          </p:cNvPr>
          <p:cNvSpPr>
            <a:spLocks noGrp="1"/>
          </p:cNvSpPr>
          <p:nvPr/>
        </p:nvSpPr>
        <p:spPr>
          <a:xfrm>
            <a:off x="9783026" y="1550678"/>
            <a:ext cx="5514722" cy="35105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+mn-ea"/>
                <a:cs typeface="阿里巴巴普惠体 Medium"/>
              </a:rPr>
              <a:t>钱威伦 安格玛 纪家灏 史爽奕 王轶 张凌尔</a:t>
            </a:r>
            <a:endParaRPr lang="zh-CN" sz="2000" b="1" noProof="0" dirty="0">
              <a:solidFill>
                <a:srgbClr val="FFFFFF"/>
              </a:solidFill>
              <a:latin typeface="+mn-ea"/>
              <a:cs typeface="阿里巴巴普惠体 Medium"/>
            </a:endParaRPr>
          </a:p>
        </p:txBody>
      </p:sp>
      <p:sp>
        <p:nvSpPr>
          <p:cNvPr id="99" name="TextBox 99">
            <a:extLst>
              <a:ext uri="{FF2B5EF4-FFF2-40B4-BE49-F238E27FC236}">
                <a16:creationId xmlns:a16="http://schemas.microsoft.com/office/drawing/2014/main" id="{1A3BF2A4-7D98-4668-8F27-4BD12FAEF3B9}"/>
              </a:ext>
            </a:extLst>
          </p:cNvPr>
          <p:cNvSpPr>
            <a:spLocks noGrp="1"/>
          </p:cNvSpPr>
          <p:nvPr/>
        </p:nvSpPr>
        <p:spPr>
          <a:xfrm>
            <a:off x="1152552" y="15041890"/>
            <a:ext cx="3366019" cy="26642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七阶段生长流水线</a:t>
            </a:r>
          </a:p>
        </p:txBody>
      </p:sp>
      <p:sp>
        <p:nvSpPr>
          <p:cNvPr id="100" name="TextBox 100">
            <a:extLst>
              <a:ext uri="{FF2B5EF4-FFF2-40B4-BE49-F238E27FC236}">
                <a16:creationId xmlns:a16="http://schemas.microsoft.com/office/drawing/2014/main" id="{EC3D737B-7E2B-4ABF-8055-B7D440644701}"/>
              </a:ext>
            </a:extLst>
          </p:cNvPr>
          <p:cNvSpPr>
            <a:spLocks noGrp="1"/>
          </p:cNvSpPr>
          <p:nvPr/>
        </p:nvSpPr>
        <p:spPr>
          <a:xfrm>
            <a:off x="752605" y="15704675"/>
            <a:ext cx="1236616" cy="34233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88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项目方法</a:t>
            </a: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CB54B0EA-8B99-4474-9A51-771E866A8122}"/>
              </a:ext>
            </a:extLst>
          </p:cNvPr>
          <p:cNvSpPr>
            <a:spLocks noGrp="1"/>
          </p:cNvSpPr>
          <p:nvPr/>
        </p:nvSpPr>
        <p:spPr>
          <a:xfrm>
            <a:off x="752605" y="17943161"/>
            <a:ext cx="933624" cy="34671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>
              <a:lnSpc>
                <a:spcPts val="288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实验验证</a:t>
            </a:r>
          </a:p>
        </p:txBody>
      </p:sp>
      <p:sp>
        <p:nvSpPr>
          <p:cNvPr id="102" name="TextBox 102">
            <a:extLst>
              <a:ext uri="{FF2B5EF4-FFF2-40B4-BE49-F238E27FC236}">
                <a16:creationId xmlns:a16="http://schemas.microsoft.com/office/drawing/2014/main" id="{749D485B-3DBE-45FC-B926-B75B0D8C60E3}"/>
              </a:ext>
            </a:extLst>
          </p:cNvPr>
          <p:cNvSpPr>
            <a:spLocks noGrp="1"/>
          </p:cNvSpPr>
          <p:nvPr/>
        </p:nvSpPr>
        <p:spPr>
          <a:xfrm>
            <a:off x="1262981" y="18463037"/>
            <a:ext cx="8361455" cy="83067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真实课程案例导入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4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份材料，完成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85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个语义单元嵌入，形成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79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个知识点与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100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条先修依赖边，并输出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79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份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Markdown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学习文件。</a:t>
            </a:r>
            <a:endParaRPr lang="en-US" altLang="zh-CN" sz="1600" dirty="0">
              <a:solidFill>
                <a:srgbClr val="000000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界面展示各阶段完成率、复用状态和失败节点，便于定位问题而非只等待黑盒结果。</a:t>
            </a: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6E8BC4B0-107A-4EE6-AE0F-E108733C6510}"/>
              </a:ext>
            </a:extLst>
          </p:cNvPr>
          <p:cNvSpPr>
            <a:spLocks noGrp="1"/>
          </p:cNvSpPr>
          <p:nvPr/>
        </p:nvSpPr>
        <p:spPr>
          <a:xfrm>
            <a:off x="1262981" y="19339815"/>
            <a:ext cx="8380119" cy="113792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>
              <a:lnSpc>
                <a:spcPts val="224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端到端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79/79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节点生成完成。学习者可在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3D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果树查看推荐节点与先后关系，在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Reader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中阅读、标记完成并提交反馈。
反馈只触发当前节点的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Writer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定向修订；成功后备份旧文件并重新索引，失败则保留原文件。</a:t>
            </a:r>
          </a:p>
          <a:p>
            <a:pPr marL="0" indent="0">
              <a:lnSpc>
                <a:spcPts val="2240"/>
              </a:lnSpc>
              <a:buNone/>
            </a:pPr>
            <a:endParaRPr lang="zh-CN" sz="1400" noProof="0" dirty="0">
              <a:solidFill>
                <a:srgbClr val="000000"/>
              </a:solidFill>
              <a:latin typeface="字由点字典黑 2 Light"/>
              <a:ea typeface="字由点字典黑 2 Light"/>
              <a:cs typeface="字由点字典黑 2 Light"/>
            </a:endParaRPr>
          </a:p>
        </p:txBody>
      </p:sp>
      <p:sp>
        <p:nvSpPr>
          <p:cNvPr id="104" name="TextBox 104">
            <a:extLst>
              <a:ext uri="{FF2B5EF4-FFF2-40B4-BE49-F238E27FC236}">
                <a16:creationId xmlns:a16="http://schemas.microsoft.com/office/drawing/2014/main" id="{5B802BE6-E667-4214-963E-15F9A622B6B6}"/>
              </a:ext>
            </a:extLst>
          </p:cNvPr>
          <p:cNvSpPr>
            <a:spLocks noGrp="1"/>
          </p:cNvSpPr>
          <p:nvPr/>
        </p:nvSpPr>
        <p:spPr>
          <a:xfrm>
            <a:off x="10175091" y="15209854"/>
            <a:ext cx="1305709" cy="34054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880"/>
              </a:lnSpc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未来改进</a:t>
            </a: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26132B35-6DC4-4BE7-82B0-CF8FD0D45190}"/>
              </a:ext>
            </a:extLst>
          </p:cNvPr>
          <p:cNvSpPr>
            <a:spLocks noGrp="1"/>
          </p:cNvSpPr>
          <p:nvPr/>
        </p:nvSpPr>
        <p:spPr>
          <a:xfrm>
            <a:off x="10175091" y="15618946"/>
            <a:ext cx="4324189" cy="113792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>
              <a:lnSpc>
                <a:spcPts val="224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下一步将扩展多学科基准，分别评估 </a:t>
            </a:r>
            <a:r>
              <a:rPr lang="en-US" altLang="zh-CN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OCR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版面恢复、知识点覆盖、先修边质量和学习文件可用性；并优化长任务诊断、图谱交互与本地模型性能，降低首次配置门槛。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5F37B-482E-F635-7FF0-94E9CD23F9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1" t="6934" r="5961" b="8042"/>
          <a:stretch>
            <a:fillRect/>
          </a:stretch>
        </p:blipFill>
        <p:spPr>
          <a:xfrm>
            <a:off x="10397396" y="5539939"/>
            <a:ext cx="3825759" cy="25591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7A2DB5-A3C5-619C-9BD0-50766A97C5AF}"/>
              </a:ext>
            </a:extLst>
          </p:cNvPr>
          <p:cNvSpPr txBox="1"/>
          <p:nvPr/>
        </p:nvSpPr>
        <p:spPr>
          <a:xfrm>
            <a:off x="10108503" y="18178449"/>
            <a:ext cx="4477277" cy="1487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4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2 Light"/>
              </a:rPr>
              <a:t>核心技术：</a:t>
            </a:r>
            <a:r>
              <a:rPr 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2 Light"/>
              </a:rPr>
              <a:t>Tauri / React / TypeScript / Python / </a:t>
            </a:r>
            <a:r>
              <a:rPr lang="en-US" sz="1600" dirty="0" err="1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2 Light"/>
              </a:rPr>
              <a:t>FastAPI</a:t>
            </a:r>
            <a:r>
              <a:rPr 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2 Light"/>
              </a:rPr>
              <a:t>
OCR 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2 Light"/>
              </a:rPr>
              <a:t>与检索：</a:t>
            </a:r>
            <a:r>
              <a:rPr lang="en-US" sz="1600" dirty="0" err="1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2 Light"/>
              </a:rPr>
              <a:t>PaddleOCR</a:t>
            </a:r>
            <a:r>
              <a:rPr 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2 Light"/>
              </a:rPr>
              <a:t> / </a:t>
            </a:r>
            <a:r>
              <a:rPr lang="en-US" sz="1600" dirty="0" err="1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2 Light"/>
              </a:rPr>
              <a:t>llama.cpp</a:t>
            </a:r>
            <a:r>
              <a:rPr 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2 Light"/>
              </a:rPr>
              <a:t> / Qwen3 Embedding
</a:t>
            </a:r>
            <a:r>
              <a:rPr lang="zh-CN" alt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2 Light"/>
              </a:rPr>
              <a:t>模型接口：</a:t>
            </a:r>
            <a:r>
              <a:rPr lang="en-US" sz="1600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字由点字典黑 2 Light"/>
              </a:rPr>
              <a:t>OpenAI-compatible Chat API</a:t>
            </a:r>
            <a:endParaRPr lang="en-CN" sz="1600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8" name="TextBox 104">
            <a:extLst>
              <a:ext uri="{FF2B5EF4-FFF2-40B4-BE49-F238E27FC236}">
                <a16:creationId xmlns:a16="http://schemas.microsoft.com/office/drawing/2014/main" id="{C50140C0-9DB1-B751-7FB8-F799B17FD1A1}"/>
              </a:ext>
            </a:extLst>
          </p:cNvPr>
          <p:cNvSpPr>
            <a:spLocks noGrp="1"/>
          </p:cNvSpPr>
          <p:nvPr/>
        </p:nvSpPr>
        <p:spPr>
          <a:xfrm>
            <a:off x="10175090" y="17791645"/>
            <a:ext cx="1305709" cy="34054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880"/>
              </a:lnSpc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000000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参考文献</a:t>
            </a:r>
          </a:p>
        </p:txBody>
      </p:sp>
    </p:spTree>
    <p:extLst>
      <p:ext uri="{BB962C8B-B14F-4D97-AF65-F5344CB8AC3E}">
        <p14:creationId xmlns:p14="http://schemas.microsoft.com/office/powerpoint/2010/main" val="839214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719</Words>
  <Application>Microsoft Macintosh PowerPoint</Application>
  <DocSecurity>0</DocSecurity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DengXian</vt:lpstr>
      <vt:lpstr>字由点字典黑 1 Bold</vt:lpstr>
      <vt:lpstr>Calibri</vt:lpstr>
      <vt:lpstr>字由点字典黑 2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a34359</cp:lastModifiedBy>
  <cp:revision>8</cp:revision>
  <dcterms:created xsi:type="dcterms:W3CDTF">2026-07-13T01:59:13Z</dcterms:created>
  <dcterms:modified xsi:type="dcterms:W3CDTF">2026-07-13T03:24:37Z</dcterms:modified>
</cp:coreProperties>
</file>